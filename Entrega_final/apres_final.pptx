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64" r:id="rId3"/>
    <p:sldId id="256" r:id="rId4"/>
    <p:sldId id="266" r:id="rId5"/>
    <p:sldId id="261" r:id="rId6"/>
    <p:sldId id="268" r:id="rId7"/>
    <p:sldId id="262" r:id="rId8"/>
    <p:sldId id="265" r:id="rId9"/>
    <p:sldId id="263" r:id="rId10"/>
    <p:sldId id="269" r:id="rId11"/>
    <p:sldId id="259" r:id="rId12"/>
    <p:sldId id="271" r:id="rId13"/>
    <p:sldId id="270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0D0C"/>
    <a:srgbClr val="B03327"/>
    <a:srgbClr val="D42E22"/>
    <a:srgbClr val="FDE8E8"/>
    <a:srgbClr val="14587E"/>
    <a:srgbClr val="D6EAF8"/>
    <a:srgbClr val="1A9E52"/>
    <a:srgbClr val="D4F5E3"/>
    <a:srgbClr val="4472C4"/>
    <a:srgbClr val="B011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1" autoAdjust="0"/>
    <p:restoredTop sz="93634" autoAdjust="0"/>
  </p:normalViewPr>
  <p:slideViewPr>
    <p:cSldViewPr snapToGrid="0">
      <p:cViewPr>
        <p:scale>
          <a:sx n="75" d="100"/>
          <a:sy n="75" d="100"/>
        </p:scale>
        <p:origin x="336" y="-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all" spc="100" normalizeH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pt-BR" sz="1400">
                <a:solidFill>
                  <a:sysClr val="windowText" lastClr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EVOLUÇÃO KS</a:t>
            </a:r>
          </a:p>
        </c:rich>
      </c:tx>
      <c:layout>
        <c:manualLayout>
          <c:xMode val="edge"/>
          <c:yMode val="edge"/>
          <c:x val="0.3958531015635724"/>
          <c:y val="1.037613488975356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all" spc="100" normalizeH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3492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4.4500767870622952E-2"/>
                  <c:y val="-5.571117291964284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1B0-4C94-B2B4-A9C02A5D1FAB}"/>
                </c:ext>
              </c:extLst>
            </c:dLbl>
            <c:dLbl>
              <c:idx val="1"/>
              <c:layout>
                <c:manualLayout>
                  <c:x val="-3.903391358036918E-2"/>
                  <c:y val="-4.66071167494270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1B0-4C94-B2B4-A9C02A5D1FAB}"/>
                </c:ext>
              </c:extLst>
            </c:dLbl>
            <c:dLbl>
              <c:idx val="2"/>
              <c:layout>
                <c:manualLayout>
                  <c:x val="-3.5970896820945314E-2"/>
                  <c:y val="-5.508901661608270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1B0-4C94-B2B4-A9C02A5D1FAB}"/>
                </c:ext>
              </c:extLst>
            </c:dLbl>
            <c:dLbl>
              <c:idx val="3"/>
              <c:layout>
                <c:manualLayout>
                  <c:x val="-4.1204441266685987E-2"/>
                  <c:y val="-5.54000947678627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1B0-4C94-B2B4-A9C02A5D1FAB}"/>
                </c:ext>
              </c:extLst>
            </c:dLbl>
            <c:dLbl>
              <c:idx val="4"/>
              <c:layout>
                <c:manualLayout>
                  <c:x val="-4.4500792393027018E-2"/>
                  <c:y val="-4.166666666666666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1B0-4C94-B2B4-A9C02A5D1FAB}"/>
                </c:ext>
              </c:extLst>
            </c:dLbl>
            <c:dLbl>
              <c:idx val="5"/>
              <c:layout>
                <c:manualLayout>
                  <c:x val="-4.4500792393027018E-2"/>
                  <c:y val="-4.629629629629631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1B0-4C94-B2B4-A9C02A5D1FAB}"/>
                </c:ext>
              </c:extLst>
            </c:dLbl>
            <c:dLbl>
              <c:idx val="6"/>
              <c:layout>
                <c:manualLayout>
                  <c:x val="-4.1204437400950873E-2"/>
                  <c:y val="-5.204285262007618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rgbClr val="B03327"/>
                      </a:solidFill>
                      <a:latin typeface="Inter 18pt Medium" panose="02000503000000020004" pitchFamily="2" charset="0"/>
                      <a:ea typeface="Inter 18pt Medium" panose="02000503000000020004" pitchFamily="2" charset="0"/>
                      <a:cs typeface="+mn-cs"/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1B0-4C94-B2B4-A9C02A5D1FA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ysClr val="windowText" lastClr="000000"/>
                    </a:solidFill>
                    <a:latin typeface="Inter 18pt Medium" panose="02000503000000020004" pitchFamily="2" charset="0"/>
                    <a:ea typeface="Inter 18pt Medium" panose="02000503000000020004" pitchFamily="2" charset="0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Planilha1!$A$1:$A$14</c:f>
              <c:strCache>
                <c:ptCount val="7"/>
                <c:pt idx="0">
                  <c:v>V01</c:v>
                </c:pt>
                <c:pt idx="1">
                  <c:v>V02</c:v>
                </c:pt>
                <c:pt idx="2">
                  <c:v>V03</c:v>
                </c:pt>
                <c:pt idx="3">
                  <c:v>V04</c:v>
                </c:pt>
                <c:pt idx="4">
                  <c:v>V05</c:v>
                </c:pt>
                <c:pt idx="5">
                  <c:v>V06_final</c:v>
                </c:pt>
                <c:pt idx="6">
                  <c:v>V06_final (OOT)</c:v>
                </c:pt>
              </c:strCache>
              <c:extLst/>
            </c:strRef>
          </c:cat>
          <c:val>
            <c:numRef>
              <c:f>Planilha1!$B$1:$B$14</c:f>
              <c:numCache>
                <c:formatCode>General</c:formatCode>
                <c:ptCount val="7"/>
                <c:pt idx="0">
                  <c:v>0.27</c:v>
                </c:pt>
                <c:pt idx="1">
                  <c:v>0.32</c:v>
                </c:pt>
                <c:pt idx="2">
                  <c:v>0.33</c:v>
                </c:pt>
                <c:pt idx="3">
                  <c:v>0.33</c:v>
                </c:pt>
                <c:pt idx="4">
                  <c:v>0.37</c:v>
                </c:pt>
                <c:pt idx="5">
                  <c:v>0.38</c:v>
                </c:pt>
                <c:pt idx="6">
                  <c:v>0.36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7-A1B0-4C94-B2B4-A9C02A5D1FA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19050" cap="flat" cmpd="sng" algn="ctr">
              <a:solidFill>
                <a:srgbClr val="C00000"/>
              </a:solidFill>
              <a:prstDash val="sysDot"/>
              <a:round/>
            </a:ln>
            <a:effectLst>
              <a:outerShdw blurRad="50800" dist="50800" dir="5400000" algn="ctr" rotWithShape="0">
                <a:schemeClr val="bg1"/>
              </a:outerShdw>
            </a:effectLst>
          </c:spPr>
        </c:dropLines>
        <c:smooth val="0"/>
        <c:axId val="78745168"/>
        <c:axId val="80945104"/>
      </c:lineChart>
      <c:catAx>
        <c:axId val="78745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spc="100" baseline="0">
                <a:solidFill>
                  <a:sysClr val="windowText" lastClr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  <a:cs typeface="+mn-cs"/>
              </a:defRPr>
            </a:pPr>
            <a:endParaRPr lang="pt-BR"/>
          </a:p>
        </c:txPr>
        <c:crossAx val="80945104"/>
        <c:crosses val="autoZero"/>
        <c:auto val="1"/>
        <c:lblAlgn val="ctr"/>
        <c:lblOffset val="100"/>
        <c:noMultiLvlLbl val="0"/>
      </c:catAx>
      <c:valAx>
        <c:axId val="809451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8745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bg1"/>
      </a:solidFill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9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12700" cap="flat" cmpd="sng" algn="ctr">
        <a:solidFill>
          <a:schemeClr val="lt1"/>
        </a:solidFill>
        <a:round/>
      </a:ln>
    </cs:spPr>
    <cs:defRPr sz="900" kern="1200" spc="10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9CD3C-EFCB-41E3-BED9-38D80DE428D5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63BD54-773C-4632-8A25-13A8899529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0470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3BD54-773C-4632-8A25-13A88995298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7634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BD9FC8-FE0D-4BEC-BDC4-A3E68E6618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9983E3-5337-4524-8F2E-BA78A5C43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47B977-50CD-4C31-BE77-7E92374B0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0F740-F64F-4405-BF30-8AEEE27E59E2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509472-B016-4936-A5E1-DF6BDCB4E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39BBB9-BB3D-4B14-8D48-D4EB5865A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6370-610C-47E6-83DD-48FA59CB9B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3452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6E7DEC-5B58-4BF5-B0F7-FC2198239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E2DD47-E1A0-4EDA-B688-9B0A0F03D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94628C-0CD8-40E3-BA55-837710B26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0F740-F64F-4405-BF30-8AEEE27E59E2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0A9AC0-EB1D-4F5C-9EFA-31C33D2A4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3EC7F7-2006-4374-94FC-BB909CDFA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6370-610C-47E6-83DD-48FA59CB9B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1727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F3C8D4-0564-4AB7-B440-BAAC68539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BF2FD8-68CE-4189-A135-65876557B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0C40C5-D3B7-40EE-B501-3819E3C7D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0F740-F64F-4405-BF30-8AEEE27E59E2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0E1EF6-AED7-44E4-AEB4-7B3A3AD9C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F3C03B-DB26-49FB-8CB9-6BF970C2E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6370-610C-47E6-83DD-48FA59CB9B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5797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38B09-AD0A-43FD-959C-B6D7C2AB7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C6854C-A2AA-4F83-B451-B7B8664C63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283EBC0-DF59-4496-A290-DA6D3A565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FFBEB4-CF96-4AC1-B4D5-1C60A1E2C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0F740-F64F-4405-BF30-8AEEE27E59E2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2F80D41-BBC6-4161-B0CB-DD8350C92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3DDA30-B425-47E2-B93C-DE2243028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6370-610C-47E6-83DD-48FA59CB9B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0277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E5C411-7D7D-4AB7-BA76-ED28D42C1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78CFBA-1251-4FA6-A62D-150834F23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2C78DC7-4DF6-4067-91F2-BBC5BD8C1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5D60D8-BA9D-47BC-95E0-8B71FD75AA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4DCDD25-B045-4996-B302-7664F1D618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FF378C9-82E9-4249-9293-3C5C9C08E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0F740-F64F-4405-BF30-8AEEE27E59E2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A5EEB43-33F2-4A12-8F9F-1CB0391A2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6571CC5-755D-4796-9536-D60B4B9FC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6370-610C-47E6-83DD-48FA59CB9B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4645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E6BE9D-771E-4585-AE3D-B7714D148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0F8D74E-3876-40A3-967B-DEC8E8D3D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0F740-F64F-4405-BF30-8AEEE27E59E2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F762D74-FAE3-4BC4-974B-0A950D431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11455E1-0713-485C-8189-84AE822AC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6370-610C-47E6-83DD-48FA59CB9B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6270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2DAAF7E-EFC7-402E-BDFE-BF584F79E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0F740-F64F-4405-BF30-8AEEE27E59E2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49C9AAF-72CC-419C-9CB2-01042E637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879092B-C5A5-4AC3-AAF8-976537C63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6370-610C-47E6-83DD-48FA59CB9B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1646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DCD50-52D8-42CD-A176-3B9C9C0B9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077D9E-1255-4B5A-B517-B3B257C37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A250FB7-E34D-49C0-AADA-8F3AAF947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4D8CB1E-DED0-42B5-B954-8969E3931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0F740-F64F-4405-BF30-8AEEE27E59E2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96CD101-47E5-466E-9831-166C6CF71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8A63CF7-8DC7-4F6C-8AEF-169A63482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6370-610C-47E6-83DD-48FA59CB9B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9266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5C536F-DF88-400F-8D0C-FDF8FEA3B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ABF127-5B02-450F-ACCE-8B5B3BFE05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FE0C21F-1461-483C-B7EB-5494A72D1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54F93BE-0145-4552-A6B0-757A040C1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0F740-F64F-4405-BF30-8AEEE27E59E2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70184B2-4DE1-4387-BB05-E8F7C31A0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16C14E-0351-4B3F-AF9E-601A4B1E5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6370-610C-47E6-83DD-48FA59CB9B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6998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42E2A2-423B-4234-85A1-567E05761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F819233-E689-4D21-8DEE-1BD684111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336F2D-6799-495F-BE1E-3CE0B2956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0F740-F64F-4405-BF30-8AEEE27E59E2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4C3394-5487-437F-8FD1-3F8679D37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3F092F-B19F-46A8-82B4-98439A44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6370-610C-47E6-83DD-48FA59CB9B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5715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FE667A4-0EFD-45C8-A4A3-1F6D3993BD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7EDBECF-B3AA-4208-94D7-F9C5C00784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2EF3F9-D454-4021-9DF1-8CE7D6586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0F740-F64F-4405-BF30-8AEEE27E59E2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19FFF9-F819-48E9-AEAB-239983774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1B2F50-C88A-4433-B257-5D1AC53DC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6370-610C-47E6-83DD-48FA59CB9B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877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201AF18-1AB8-4132-9EB8-90F6F6654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AEB2640-0B1D-45C3-9A00-939204DE8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197DA9-734C-4AD8-BF65-4D4F599832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0F740-F64F-4405-BF30-8AEEE27E59E2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523129-3EBA-4451-AB00-88E05C49EF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8ACB5F-CDA0-4E42-893F-62E6C995CA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16370-610C-47E6-83DD-48FA59CB9B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48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F411190C-50C1-4952-B012-D0E3F6F1D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94" y="5615707"/>
            <a:ext cx="2590426" cy="1392702"/>
          </a:xfrm>
          <a:prstGeom prst="rect">
            <a:avLst/>
          </a:prstGeom>
        </p:spPr>
      </p:pic>
      <p:sp>
        <p:nvSpPr>
          <p:cNvPr id="4" name="Freeform 6">
            <a:extLst>
              <a:ext uri="{FF2B5EF4-FFF2-40B4-BE49-F238E27FC236}">
                <a16:creationId xmlns:a16="http://schemas.microsoft.com/office/drawing/2014/main" id="{093218C7-4BE8-4C1C-B0E7-E24D73C4EF96}"/>
              </a:ext>
            </a:extLst>
          </p:cNvPr>
          <p:cNvSpPr/>
          <p:nvPr/>
        </p:nvSpPr>
        <p:spPr>
          <a:xfrm>
            <a:off x="6262502" y="3265747"/>
            <a:ext cx="2161047" cy="1210186"/>
          </a:xfrm>
          <a:custGeom>
            <a:avLst/>
            <a:gdLst/>
            <a:ahLst/>
            <a:cxnLst/>
            <a:rect l="l" t="t" r="r" b="b"/>
            <a:pathLst>
              <a:path w="4466343" h="2501152">
                <a:moveTo>
                  <a:pt x="0" y="0"/>
                </a:moveTo>
                <a:lnTo>
                  <a:pt x="4466343" y="0"/>
                </a:lnTo>
                <a:lnTo>
                  <a:pt x="4466343" y="2501152"/>
                </a:lnTo>
                <a:lnTo>
                  <a:pt x="0" y="25011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4D82C651-4380-4953-AEEE-1B94CED6E1FF}"/>
              </a:ext>
            </a:extLst>
          </p:cNvPr>
          <p:cNvSpPr/>
          <p:nvPr/>
        </p:nvSpPr>
        <p:spPr>
          <a:xfrm>
            <a:off x="3811240" y="2922681"/>
            <a:ext cx="1738544" cy="1738544"/>
          </a:xfrm>
          <a:custGeom>
            <a:avLst/>
            <a:gdLst/>
            <a:ahLst/>
            <a:cxnLst/>
            <a:rect l="l" t="t" r="r" b="b"/>
            <a:pathLst>
              <a:path w="3799343" h="3799343">
                <a:moveTo>
                  <a:pt x="0" y="0"/>
                </a:moveTo>
                <a:lnTo>
                  <a:pt x="3799343" y="0"/>
                </a:lnTo>
                <a:lnTo>
                  <a:pt x="3799343" y="3799343"/>
                </a:lnTo>
                <a:lnTo>
                  <a:pt x="0" y="3799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4DACFAAB-E68C-4C7F-9C40-E7CDC69D1D17}"/>
              </a:ext>
            </a:extLst>
          </p:cNvPr>
          <p:cNvSpPr/>
          <p:nvPr/>
        </p:nvSpPr>
        <p:spPr>
          <a:xfrm>
            <a:off x="4457199" y="582441"/>
            <a:ext cx="3277601" cy="774965"/>
          </a:xfrm>
          <a:custGeom>
            <a:avLst/>
            <a:gdLst/>
            <a:ahLst/>
            <a:cxnLst/>
            <a:rect l="l" t="t" r="r" b="b"/>
            <a:pathLst>
              <a:path w="6176629" h="1460418">
                <a:moveTo>
                  <a:pt x="0" y="0"/>
                </a:moveTo>
                <a:lnTo>
                  <a:pt x="6176629" y="0"/>
                </a:lnTo>
                <a:lnTo>
                  <a:pt x="6176629" y="1460418"/>
                </a:lnTo>
                <a:lnTo>
                  <a:pt x="0" y="14604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1F03E97-6D7F-438A-9107-53D8E4DEBE09}"/>
              </a:ext>
            </a:extLst>
          </p:cNvPr>
          <p:cNvSpPr txBox="1"/>
          <p:nvPr/>
        </p:nvSpPr>
        <p:spPr>
          <a:xfrm>
            <a:off x="2471964" y="1982450"/>
            <a:ext cx="736114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dirty="0">
                <a:latin typeface="Inter 28pt ExtraBold" panose="02000503000000020004" pitchFamily="2" charset="0"/>
                <a:ea typeface="Inter 28pt ExtraBold" panose="02000503000000020004" pitchFamily="2" charset="0"/>
                <a:cs typeface="Catamaran Black" pitchFamily="2" charset="0"/>
              </a:rPr>
              <a:t>HACKATHON</a:t>
            </a:r>
            <a:r>
              <a:rPr lang="pt-BR" sz="8800" b="1" dirty="0">
                <a:latin typeface="Inter 28pt ExtraBold" panose="02000503000000020004" pitchFamily="2" charset="0"/>
                <a:ea typeface="Inter 28pt ExtraBold" panose="02000503000000020004" pitchFamily="2" charset="0"/>
                <a:cs typeface="Catamaran Black" pitchFamily="2" charset="0"/>
              </a:rPr>
              <a:t> </a:t>
            </a:r>
            <a:r>
              <a:rPr lang="pt-BR" sz="6000" b="1" dirty="0">
                <a:latin typeface="Inter 28pt ExtraBold" panose="02000503000000020004" pitchFamily="2" charset="0"/>
                <a:ea typeface="Inter 28pt ExtraBold" panose="02000503000000020004" pitchFamily="2" charset="0"/>
                <a:cs typeface="Catamaran Black" pitchFamily="2" charset="0"/>
              </a:rPr>
              <a:t>2025</a:t>
            </a:r>
            <a:endParaRPr lang="pt-BR" sz="8800" b="1" dirty="0">
              <a:latin typeface="Inter 28pt ExtraBold" panose="02000503000000020004" pitchFamily="2" charset="0"/>
              <a:ea typeface="Inter 28pt ExtraBold" panose="02000503000000020004" pitchFamily="2" charset="0"/>
              <a:cs typeface="Catamaran Black" pitchFamily="2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D1666D1-5FF0-4D77-AE60-ED11901D7548}"/>
              </a:ext>
            </a:extLst>
          </p:cNvPr>
          <p:cNvSpPr txBox="1"/>
          <p:nvPr/>
        </p:nvSpPr>
        <p:spPr>
          <a:xfrm>
            <a:off x="2471964" y="6134667"/>
            <a:ext cx="93580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B03327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Franciele Moritz : AD  |   Marcos Souza : ED  |  Pedro Melo : PM-CD-VA  |   Roberto </a:t>
            </a:r>
            <a:r>
              <a:rPr lang="pt-BR" sz="1600" b="1" dirty="0" err="1">
                <a:solidFill>
                  <a:srgbClr val="B03327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Sianciulis</a:t>
            </a:r>
            <a:r>
              <a:rPr lang="pt-BR" sz="1600" b="1" dirty="0">
                <a:solidFill>
                  <a:srgbClr val="B03327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 : ED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E518037-BC3C-464E-A59A-36020E260F66}"/>
              </a:ext>
            </a:extLst>
          </p:cNvPr>
          <p:cNvSpPr txBox="1"/>
          <p:nvPr/>
        </p:nvSpPr>
        <p:spPr>
          <a:xfrm>
            <a:off x="5660796" y="3434492"/>
            <a:ext cx="6745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>
                <a:latin typeface="Inter 18pt Light" panose="02000503000000020004" pitchFamily="2" charset="0"/>
                <a:ea typeface="Inter 18pt Light" panose="02000503000000020004" pitchFamily="2" charset="0"/>
              </a:rPr>
              <a:t>+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992602F-B213-43B7-8FF6-E15C1380218F}"/>
              </a:ext>
            </a:extLst>
          </p:cNvPr>
          <p:cNvSpPr txBox="1"/>
          <p:nvPr/>
        </p:nvSpPr>
        <p:spPr>
          <a:xfrm>
            <a:off x="8385006" y="3201522"/>
            <a:ext cx="6745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dirty="0">
                <a:latin typeface="Inter 18pt Light" panose="02000503000000020004" pitchFamily="2" charset="0"/>
                <a:ea typeface="Inter 18pt Light" panose="02000503000000020004" pitchFamily="2" charset="0"/>
              </a:rPr>
              <a:t>]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1D28F68-2049-454C-8B83-823161B3A753}"/>
              </a:ext>
            </a:extLst>
          </p:cNvPr>
          <p:cNvSpPr txBox="1"/>
          <p:nvPr/>
        </p:nvSpPr>
        <p:spPr>
          <a:xfrm>
            <a:off x="3390205" y="3209120"/>
            <a:ext cx="6745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dirty="0">
                <a:latin typeface="Inter 18pt Light" panose="02000503000000020004" pitchFamily="2" charset="0"/>
                <a:ea typeface="Inter 18pt Light" panose="02000503000000020004" pitchFamily="2" charset="0"/>
              </a:rPr>
              <a:t>[</a:t>
            </a:r>
          </a:p>
        </p:txBody>
      </p:sp>
    </p:spTree>
    <p:extLst>
      <p:ext uri="{BB962C8B-B14F-4D97-AF65-F5344CB8AC3E}">
        <p14:creationId xmlns:p14="http://schemas.microsoft.com/office/powerpoint/2010/main" val="410638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D85F772-4344-4801-9340-EB18F2A751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9" y="6259968"/>
            <a:ext cx="1404683" cy="755206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934BEEB1-D68B-4ABA-B586-BC5985F09731}"/>
              </a:ext>
            </a:extLst>
          </p:cNvPr>
          <p:cNvSpPr/>
          <p:nvPr/>
        </p:nvSpPr>
        <p:spPr>
          <a:xfrm>
            <a:off x="176658" y="165334"/>
            <a:ext cx="11800448" cy="523220"/>
          </a:xfrm>
          <a:prstGeom prst="rect">
            <a:avLst/>
          </a:prstGeom>
          <a:ln>
            <a:noFill/>
            <a:prstDash val="sysDash"/>
          </a:ln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rgbClr val="D42E22"/>
                </a:solidFill>
                <a:latin typeface="Inter 28pt ExtraBold" panose="02000503000000020004" pitchFamily="2" charset="0"/>
                <a:ea typeface="Inter 28pt ExtraBold" panose="02000503000000020004" pitchFamily="2" charset="0"/>
                <a:cs typeface="Arial Unicode MS" panose="020B0604020202020204" pitchFamily="34" charset="-128"/>
              </a:rPr>
              <a:t>20% de inadimplência esconde dois mundos diferentes !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BBC3C8C-F27F-4947-B92F-2BE6D0E58A5A}"/>
              </a:ext>
            </a:extLst>
          </p:cNvPr>
          <p:cNvSpPr/>
          <p:nvPr/>
        </p:nvSpPr>
        <p:spPr>
          <a:xfrm>
            <a:off x="1276995" y="573519"/>
            <a:ext cx="9569195" cy="49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000" dirty="0">
                <a:latin typeface="Inter 18pt Medium" panose="02000503000000020004" pitchFamily="2" charset="0"/>
                <a:ea typeface="Inter 18pt Medium" panose="02000503000000020004" pitchFamily="2" charset="0"/>
                <a:cs typeface="Arial Unicode MS" panose="020B0604020202020204" pitchFamily="34" charset="-128"/>
              </a:rPr>
              <a:t>A política atual mistura clientes com 3,5% e 51% de FPD na mesma decisão. 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B40EDB7-3747-474D-A052-76AD05EF869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055"/>
          <a:stretch/>
        </p:blipFill>
        <p:spPr>
          <a:xfrm>
            <a:off x="2479550" y="1217761"/>
            <a:ext cx="9334378" cy="5640239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B068DEA8-0AFD-4C94-B5F0-A3D02E9058CF}"/>
              </a:ext>
            </a:extLst>
          </p:cNvPr>
          <p:cNvSpPr/>
          <p:nvPr/>
        </p:nvSpPr>
        <p:spPr>
          <a:xfrm>
            <a:off x="178384" y="3041993"/>
            <a:ext cx="2197222" cy="12494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pt-BR" b="1" dirty="0" err="1">
                <a:solidFill>
                  <a:srgbClr val="D42E22"/>
                </a:solidFill>
                <a:latin typeface="Inter 18pt Medium" panose="02000503000000020004" pitchFamily="2" charset="0"/>
                <a:ea typeface="Inter 18pt Medium" panose="02000503000000020004" pitchFamily="2" charset="0"/>
              </a:rPr>
              <a:t>Cutoff</a:t>
            </a:r>
            <a:r>
              <a:rPr lang="pt-BR" b="1" dirty="0">
                <a:solidFill>
                  <a:srgbClr val="D42E22"/>
                </a:solidFill>
                <a:latin typeface="Inter 18pt Medium" panose="02000503000000020004" pitchFamily="2" charset="0"/>
                <a:ea typeface="Inter 18pt Medium" panose="02000503000000020004" pitchFamily="2" charset="0"/>
              </a:rPr>
              <a:t> 0.31 </a:t>
            </a:r>
          </a:p>
          <a:p>
            <a:pPr algn="r">
              <a:lnSpc>
                <a:spcPct val="150000"/>
              </a:lnSpc>
            </a:pPr>
            <a:r>
              <a:rPr lang="pt-BR" sz="1600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Captura </a:t>
            </a:r>
            <a:r>
              <a:rPr lang="pt-BR" b="1" dirty="0">
                <a:solidFill>
                  <a:srgbClr val="D42E22"/>
                </a:solidFill>
                <a:latin typeface="Inter 18pt Medium" panose="02000503000000020004" pitchFamily="2" charset="0"/>
                <a:ea typeface="Inter 18pt Medium" panose="02000503000000020004" pitchFamily="2" charset="0"/>
              </a:rPr>
              <a:t>88% </a:t>
            </a:r>
          </a:p>
          <a:p>
            <a:pPr algn="r">
              <a:lnSpc>
                <a:spcPct val="150000"/>
              </a:lnSpc>
            </a:pPr>
            <a:r>
              <a:rPr lang="pt-BR" sz="1600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dos maus pagadores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CF03FED-55BB-463F-A773-F10A092FE9D9}"/>
              </a:ext>
            </a:extLst>
          </p:cNvPr>
          <p:cNvSpPr txBox="1"/>
          <p:nvPr/>
        </p:nvSpPr>
        <p:spPr>
          <a:xfrm>
            <a:off x="11451101" y="6485207"/>
            <a:ext cx="661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b="1" dirty="0">
                <a:solidFill>
                  <a:srgbClr val="B03327"/>
                </a:solidFill>
                <a:latin typeface="Inter 18pt Medium" panose="02000503000000020004" pitchFamily="2" charset="0"/>
                <a:ea typeface="Inter 18pt Medium" panose="02000503000000020004" pitchFamily="2" charset="0"/>
              </a:rPr>
              <a:t>1 </a:t>
            </a:r>
            <a:r>
              <a:rPr lang="pt-BR" sz="1400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/</a:t>
            </a:r>
            <a:r>
              <a:rPr lang="pt-BR" sz="1200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10</a:t>
            </a:r>
            <a:endParaRPr lang="pt-BR" sz="1400" dirty="0">
              <a:latin typeface="Inter 18pt Medium" panose="02000503000000020004" pitchFamily="2" charset="0"/>
              <a:ea typeface="Inter 18pt Medium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176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AF951A2E-859E-4E4E-B18A-FEFC601819EA}"/>
              </a:ext>
            </a:extLst>
          </p:cNvPr>
          <p:cNvSpPr/>
          <p:nvPr/>
        </p:nvSpPr>
        <p:spPr>
          <a:xfrm>
            <a:off x="-5209" y="161917"/>
            <a:ext cx="12191999" cy="523220"/>
          </a:xfrm>
          <a:prstGeom prst="rect">
            <a:avLst/>
          </a:prstGeom>
          <a:ln>
            <a:noFill/>
            <a:prstDash val="sysDash"/>
          </a:ln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rgbClr val="D42E22"/>
                </a:solidFill>
                <a:latin typeface="Inter 28pt ExtraBold" panose="02000503000000020004" pitchFamily="2" charset="0"/>
                <a:ea typeface="Inter 28pt ExtraBold" panose="02000503000000020004" pitchFamily="2" charset="0"/>
                <a:cs typeface="Arial Unicode MS" panose="020B0604020202020204" pitchFamily="34" charset="-128"/>
              </a:rPr>
              <a:t>Score de risco como alavanca de crescimento sustentável.</a:t>
            </a:r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C8271E74-FDD5-4BB0-BC71-EE10626D55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9" y="6259968"/>
            <a:ext cx="1404683" cy="755206"/>
          </a:xfrm>
          <a:prstGeom prst="rect">
            <a:avLst/>
          </a:prstGeom>
        </p:spPr>
      </p:pic>
      <p:sp>
        <p:nvSpPr>
          <p:cNvPr id="24" name="Retângulo 23">
            <a:extLst>
              <a:ext uri="{FF2B5EF4-FFF2-40B4-BE49-F238E27FC236}">
                <a16:creationId xmlns:a16="http://schemas.microsoft.com/office/drawing/2014/main" id="{98D74028-ED51-4DA4-9F17-103F7000BDE3}"/>
              </a:ext>
            </a:extLst>
          </p:cNvPr>
          <p:cNvSpPr/>
          <p:nvPr/>
        </p:nvSpPr>
        <p:spPr>
          <a:xfrm>
            <a:off x="1167618" y="574675"/>
            <a:ext cx="9931792" cy="49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000" dirty="0">
                <a:latin typeface="Inter 18pt Medium" panose="02000503000000020004" pitchFamily="2" charset="0"/>
                <a:ea typeface="Inter 18pt Medium" panose="02000503000000020004" pitchFamily="2" charset="0"/>
                <a:cs typeface="Arial Unicode MS" panose="020B0604020202020204" pitchFamily="34" charset="-128"/>
              </a:rPr>
              <a:t>Nossa solução é um modelo de </a:t>
            </a:r>
            <a:r>
              <a:rPr lang="pt-BR" sz="2000" dirty="0" err="1">
                <a:latin typeface="Inter 18pt Medium" panose="02000503000000020004" pitchFamily="2" charset="0"/>
                <a:ea typeface="Inter 18pt Medium" panose="02000503000000020004" pitchFamily="2" charset="0"/>
                <a:cs typeface="Arial Unicode MS" panose="020B0604020202020204" pitchFamily="34" charset="-128"/>
              </a:rPr>
              <a:t>behavior</a:t>
            </a:r>
            <a:r>
              <a:rPr lang="pt-BR" sz="2000" dirty="0">
                <a:latin typeface="Inter 18pt Medium" panose="02000503000000020004" pitchFamily="2" charset="0"/>
                <a:ea typeface="Inter 18pt Medium" panose="02000503000000020004" pitchFamily="2" charset="0"/>
                <a:cs typeface="Arial Unicode MS" panose="020B0604020202020204" pitchFamily="34" charset="-128"/>
              </a:rPr>
              <a:t> score que separa esses dois mundos.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05367825-E8BE-4AC2-8D76-76384669C9AB}"/>
              </a:ext>
            </a:extLst>
          </p:cNvPr>
          <p:cNvGrpSpPr/>
          <p:nvPr/>
        </p:nvGrpSpPr>
        <p:grpSpPr>
          <a:xfrm>
            <a:off x="-5210" y="1500050"/>
            <a:ext cx="12192000" cy="4548905"/>
            <a:chOff x="0" y="1711062"/>
            <a:chExt cx="12192000" cy="4548905"/>
          </a:xfrm>
        </p:grpSpPr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6D622DBC-71FF-4171-8B1C-ABB9401D68DB}"/>
                </a:ext>
              </a:extLst>
            </p:cNvPr>
            <p:cNvGrpSpPr/>
            <p:nvPr/>
          </p:nvGrpSpPr>
          <p:grpSpPr>
            <a:xfrm>
              <a:off x="0" y="1711062"/>
              <a:ext cx="12192000" cy="4548905"/>
              <a:chOff x="0" y="1711062"/>
              <a:chExt cx="12192000" cy="4548905"/>
            </a:xfrm>
          </p:grpSpPr>
          <p:pic>
            <p:nvPicPr>
              <p:cNvPr id="11" name="Imagem 10">
                <a:extLst>
                  <a:ext uri="{FF2B5EF4-FFF2-40B4-BE49-F238E27FC236}">
                    <a16:creationId xmlns:a16="http://schemas.microsoft.com/office/drawing/2014/main" id="{FB535315-DAC8-4E85-AD14-A9623ADDA5C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5702"/>
              <a:stretch/>
            </p:blipFill>
            <p:spPr>
              <a:xfrm>
                <a:off x="0" y="1711062"/>
                <a:ext cx="12192000" cy="4548905"/>
              </a:xfrm>
              <a:prstGeom prst="rect">
                <a:avLst/>
              </a:prstGeom>
            </p:spPr>
          </p:pic>
          <p:sp>
            <p:nvSpPr>
              <p:cNvPr id="12" name="Retângulo 11">
                <a:extLst>
                  <a:ext uri="{FF2B5EF4-FFF2-40B4-BE49-F238E27FC236}">
                    <a16:creationId xmlns:a16="http://schemas.microsoft.com/office/drawing/2014/main" id="{D3539963-EDD6-4698-8FC9-020F7E8F3C0C}"/>
                  </a:ext>
                </a:extLst>
              </p:cNvPr>
              <p:cNvSpPr/>
              <p:nvPr/>
            </p:nvSpPr>
            <p:spPr>
              <a:xfrm>
                <a:off x="7998618" y="3093719"/>
                <a:ext cx="611975" cy="9144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5FA84CFF-0EF0-48F0-A4B3-7C4AB9933670}"/>
                  </a:ext>
                </a:extLst>
              </p:cNvPr>
              <p:cNvSpPr/>
              <p:nvPr/>
            </p:nvSpPr>
            <p:spPr>
              <a:xfrm>
                <a:off x="7725788" y="3120391"/>
                <a:ext cx="246938" cy="91441"/>
              </a:xfrm>
              <a:prstGeom prst="rect">
                <a:avLst/>
              </a:prstGeom>
              <a:solidFill>
                <a:srgbClr val="D6EAF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32B7229E-B7B6-4559-AF57-A33E57E7D573}"/>
                </a:ext>
              </a:extLst>
            </p:cNvPr>
            <p:cNvSpPr txBox="1"/>
            <p:nvPr/>
          </p:nvSpPr>
          <p:spPr>
            <a:xfrm>
              <a:off x="618979" y="4573290"/>
              <a:ext cx="2222695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>
                  <a:latin typeface="Inter 18pt Light" panose="02000503000000020004" pitchFamily="2" charset="0"/>
                  <a:ea typeface="Inter 18pt Light" panose="02000503000000020004" pitchFamily="2" charset="0"/>
                </a:rPr>
                <a:t>Rejeitados sem score – </a:t>
              </a:r>
            </a:p>
            <a:p>
              <a:pPr algn="ctr"/>
              <a:r>
                <a:rPr lang="pt-BR" sz="1200" dirty="0">
                  <a:latin typeface="Inter 18pt Light" panose="02000503000000020004" pitchFamily="2" charset="0"/>
                  <a:ea typeface="Inter 18pt Light" panose="02000503000000020004" pitchFamily="2" charset="0"/>
                </a:rPr>
                <a:t>Bons pagadores ocultos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FA118EEF-16E7-4037-A7FF-A6AD755D2FC1}"/>
                </a:ext>
              </a:extLst>
            </p:cNvPr>
            <p:cNvSpPr txBox="1"/>
            <p:nvPr/>
          </p:nvSpPr>
          <p:spPr>
            <a:xfrm>
              <a:off x="9350326" y="4573291"/>
              <a:ext cx="2222695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>
                  <a:latin typeface="Inter 18pt Light" panose="02000503000000020004" pitchFamily="2" charset="0"/>
                  <a:ea typeface="Inter 18pt Light" panose="02000503000000020004" pitchFamily="2" charset="0"/>
                </a:rPr>
                <a:t>Alto risco aprovado pela política atual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93438DDC-FBE6-4DA8-B282-192661049748}"/>
                </a:ext>
              </a:extLst>
            </p:cNvPr>
            <p:cNvSpPr txBox="1"/>
            <p:nvPr/>
          </p:nvSpPr>
          <p:spPr>
            <a:xfrm>
              <a:off x="529681" y="5979940"/>
              <a:ext cx="11078644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>
                  <a:latin typeface="Inter 18pt Light" panose="02000503000000020004" pitchFamily="2" charset="0"/>
                  <a:ea typeface="Inter 18pt Light" panose="02000503000000020004" pitchFamily="2" charset="0"/>
                </a:rPr>
                <a:t>** Score calculado sobre a Visão Unificada do Cliente (CPF) – Swap in estimado conservadoramente com FPD dos Aprovados no mesmo </a:t>
              </a:r>
              <a:r>
                <a:rPr lang="pt-BR" sz="1200" dirty="0" err="1">
                  <a:latin typeface="Inter 18pt Light" panose="02000503000000020004" pitchFamily="2" charset="0"/>
                  <a:ea typeface="Inter 18pt Light" panose="02000503000000020004" pitchFamily="2" charset="0"/>
                </a:rPr>
                <a:t>decil</a:t>
              </a:r>
              <a:r>
                <a:rPr lang="pt-BR" sz="1200" dirty="0">
                  <a:latin typeface="Inter 18pt Light" panose="02000503000000020004" pitchFamily="2" charset="0"/>
                  <a:ea typeface="Inter 18pt Light" panose="02000503000000020004" pitchFamily="2" charset="0"/>
                </a:rPr>
                <a:t>.</a:t>
              </a: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1BF98A0D-1966-425D-8B0A-CE99B2C9B9A3}"/>
                </a:ext>
              </a:extLst>
            </p:cNvPr>
            <p:cNvSpPr txBox="1"/>
            <p:nvPr/>
          </p:nvSpPr>
          <p:spPr>
            <a:xfrm>
              <a:off x="739260" y="3913201"/>
              <a:ext cx="2222695" cy="276999"/>
            </a:xfrm>
            <a:prstGeom prst="rect">
              <a:avLst/>
            </a:prstGeom>
            <a:solidFill>
              <a:srgbClr val="D4F5E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>
                  <a:solidFill>
                    <a:srgbClr val="1A9E52"/>
                  </a:solidFill>
                  <a:latin typeface="Inter 18pt Light" panose="02000503000000020004" pitchFamily="2" charset="0"/>
                  <a:ea typeface="Inter 18pt Light" panose="02000503000000020004" pitchFamily="2" charset="0"/>
                </a:rPr>
                <a:t>FPD médio estimado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1E6165C8-F742-4797-BFA8-60F873435EDC}"/>
                </a:ext>
              </a:extLst>
            </p:cNvPr>
            <p:cNvSpPr txBox="1"/>
            <p:nvPr/>
          </p:nvSpPr>
          <p:spPr>
            <a:xfrm>
              <a:off x="5419579" y="4051700"/>
              <a:ext cx="1352842" cy="276999"/>
            </a:xfrm>
            <a:prstGeom prst="rect">
              <a:avLst/>
            </a:prstGeom>
            <a:solidFill>
              <a:srgbClr val="D6EAF8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>
                  <a:solidFill>
                    <a:srgbClr val="14587E"/>
                  </a:solidFill>
                  <a:latin typeface="Inter 18pt Light" panose="02000503000000020004" pitchFamily="2" charset="0"/>
                  <a:ea typeface="Inter 18pt Light" panose="02000503000000020004" pitchFamily="2" charset="0"/>
                </a:rPr>
                <a:t>FPD médio</a:t>
              </a: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ED705E3-1543-4B4F-8909-D8B4EB9D7296}"/>
                </a:ext>
              </a:extLst>
            </p:cNvPr>
            <p:cNvSpPr txBox="1"/>
            <p:nvPr/>
          </p:nvSpPr>
          <p:spPr>
            <a:xfrm>
              <a:off x="9272249" y="3896398"/>
              <a:ext cx="2166423" cy="276999"/>
            </a:xfrm>
            <a:prstGeom prst="rect">
              <a:avLst/>
            </a:prstGeom>
            <a:solidFill>
              <a:srgbClr val="FDE8E8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>
                  <a:solidFill>
                    <a:srgbClr val="B03327"/>
                  </a:solidFill>
                  <a:latin typeface="Inter 18pt Light" panose="02000503000000020004" pitchFamily="2" charset="0"/>
                  <a:ea typeface="Inter 18pt Light" panose="02000503000000020004" pitchFamily="2" charset="0"/>
                </a:rPr>
                <a:t>FPD médio observado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55FBD103-44BF-4A15-8FEC-C96E71A09212}"/>
                </a:ext>
              </a:extLst>
            </p:cNvPr>
            <p:cNvSpPr txBox="1"/>
            <p:nvPr/>
          </p:nvSpPr>
          <p:spPr>
            <a:xfrm>
              <a:off x="767396" y="2510401"/>
              <a:ext cx="2222695" cy="307777"/>
            </a:xfrm>
            <a:prstGeom prst="rect">
              <a:avLst/>
            </a:prstGeom>
            <a:solidFill>
              <a:srgbClr val="D4F5E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1A9E52"/>
                  </a:solidFill>
                  <a:latin typeface="Inter 18pt Medium" panose="02000503000000020004" pitchFamily="2" charset="0"/>
                  <a:ea typeface="Inter 18pt Medium" panose="02000503000000020004" pitchFamily="2" charset="0"/>
                </a:rPr>
                <a:t>Reprovados D1 – D3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6698D936-41CC-44C6-83D8-D72AC0DF6933}"/>
                </a:ext>
              </a:extLst>
            </p:cNvPr>
            <p:cNvSpPr txBox="1"/>
            <p:nvPr/>
          </p:nvSpPr>
          <p:spPr>
            <a:xfrm>
              <a:off x="767396" y="3442640"/>
              <a:ext cx="2222695" cy="276999"/>
            </a:xfrm>
            <a:prstGeom prst="rect">
              <a:avLst/>
            </a:prstGeom>
            <a:solidFill>
              <a:srgbClr val="D4F5E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>
                  <a:solidFill>
                    <a:srgbClr val="1A9E52"/>
                  </a:solidFill>
                  <a:latin typeface="Inter 18pt Light" panose="02000503000000020004" pitchFamily="2" charset="0"/>
                  <a:ea typeface="Inter 18pt Light" panose="02000503000000020004" pitchFamily="2" charset="0"/>
                </a:rPr>
                <a:t>clientes recuperados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3381E054-2534-4F23-9998-09F3E181377B}"/>
                </a:ext>
              </a:extLst>
            </p:cNvPr>
            <p:cNvSpPr txBox="1"/>
            <p:nvPr/>
          </p:nvSpPr>
          <p:spPr>
            <a:xfrm>
              <a:off x="5148415" y="2458370"/>
              <a:ext cx="1969477" cy="307777"/>
            </a:xfrm>
            <a:prstGeom prst="rect">
              <a:avLst/>
            </a:prstGeom>
            <a:solidFill>
              <a:srgbClr val="D6EAF8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14587E"/>
                  </a:solidFill>
                  <a:latin typeface="Inter 18pt Medium" panose="02000503000000020004" pitchFamily="2" charset="0"/>
                  <a:ea typeface="Inter 18pt Medium" panose="02000503000000020004" pitchFamily="2" charset="0"/>
                </a:rPr>
                <a:t>Aprovados D1 – D8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EA144B79-1A25-4B06-A7E2-9B5759895972}"/>
                </a:ext>
              </a:extLst>
            </p:cNvPr>
            <p:cNvSpPr txBox="1"/>
            <p:nvPr/>
          </p:nvSpPr>
          <p:spPr>
            <a:xfrm>
              <a:off x="5321871" y="3578416"/>
              <a:ext cx="1548258" cy="276999"/>
            </a:xfrm>
            <a:prstGeom prst="rect">
              <a:avLst/>
            </a:prstGeom>
            <a:solidFill>
              <a:srgbClr val="D6EAF8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>
                  <a:solidFill>
                    <a:srgbClr val="14587E"/>
                  </a:solidFill>
                  <a:latin typeface="Inter 18pt Light" panose="02000503000000020004" pitchFamily="2" charset="0"/>
                  <a:ea typeface="Inter 18pt Light" panose="02000503000000020004" pitchFamily="2" charset="0"/>
                </a:rPr>
                <a:t>clientes migrados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3F8490D-0CC6-4448-8916-0DD84680CF09}"/>
                </a:ext>
              </a:extLst>
            </p:cNvPr>
            <p:cNvSpPr txBox="1"/>
            <p:nvPr/>
          </p:nvSpPr>
          <p:spPr>
            <a:xfrm>
              <a:off x="9265918" y="3428572"/>
              <a:ext cx="2166423" cy="276999"/>
            </a:xfrm>
            <a:prstGeom prst="rect">
              <a:avLst/>
            </a:prstGeom>
            <a:solidFill>
              <a:srgbClr val="FDE8E8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>
                  <a:solidFill>
                    <a:srgbClr val="B03327"/>
                  </a:solidFill>
                  <a:latin typeface="Inter 18pt Light" panose="02000503000000020004" pitchFamily="2" charset="0"/>
                  <a:ea typeface="Inter 18pt Light" panose="02000503000000020004" pitchFamily="2" charset="0"/>
                </a:rPr>
                <a:t>clientes removidos</a:t>
              </a: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3BDF2E87-8D7F-40FB-AC17-FD2A64E026E0}"/>
                </a:ext>
              </a:extLst>
            </p:cNvPr>
            <p:cNvSpPr txBox="1"/>
            <p:nvPr/>
          </p:nvSpPr>
          <p:spPr>
            <a:xfrm>
              <a:off x="9308122" y="2493461"/>
              <a:ext cx="2166423" cy="307777"/>
            </a:xfrm>
            <a:prstGeom prst="rect">
              <a:avLst/>
            </a:prstGeom>
            <a:solidFill>
              <a:srgbClr val="FDE8E8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B03327"/>
                  </a:solidFill>
                  <a:latin typeface="Inter 18pt Medium" panose="02000503000000020004" pitchFamily="2" charset="0"/>
                  <a:ea typeface="Inter 18pt Medium" panose="02000503000000020004" pitchFamily="2" charset="0"/>
                </a:rPr>
                <a:t>Aprovados D9 – D10</a:t>
              </a:r>
            </a:p>
          </p:txBody>
        </p:sp>
      </p:grp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81242400-921E-468B-9E45-ADBE32B5161A}"/>
              </a:ext>
            </a:extLst>
          </p:cNvPr>
          <p:cNvSpPr txBox="1"/>
          <p:nvPr/>
        </p:nvSpPr>
        <p:spPr>
          <a:xfrm>
            <a:off x="11451101" y="6485207"/>
            <a:ext cx="661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b="1" dirty="0">
                <a:solidFill>
                  <a:srgbClr val="B03327"/>
                </a:solidFill>
                <a:latin typeface="Inter 18pt Medium" panose="02000503000000020004" pitchFamily="2" charset="0"/>
                <a:ea typeface="Inter 18pt Medium" panose="02000503000000020004" pitchFamily="2" charset="0"/>
              </a:rPr>
              <a:t>2 </a:t>
            </a:r>
            <a:r>
              <a:rPr lang="pt-BR" sz="1400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/</a:t>
            </a:r>
            <a:r>
              <a:rPr lang="pt-BR" sz="1200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10</a:t>
            </a:r>
            <a:endParaRPr lang="pt-BR" sz="1400" dirty="0">
              <a:latin typeface="Inter 18pt Medium" panose="02000503000000020004" pitchFamily="2" charset="0"/>
              <a:ea typeface="Inter 18pt Medium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200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3746FAF7-BDC0-4DC1-BC68-2F4E9495F8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54" b="5415"/>
          <a:stretch/>
        </p:blipFill>
        <p:spPr>
          <a:xfrm>
            <a:off x="145366" y="1310716"/>
            <a:ext cx="11929403" cy="490152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97C7C834-0435-4D1E-AAED-5C7054ADCAFD}"/>
              </a:ext>
            </a:extLst>
          </p:cNvPr>
          <p:cNvSpPr/>
          <p:nvPr/>
        </p:nvSpPr>
        <p:spPr>
          <a:xfrm>
            <a:off x="36919" y="163087"/>
            <a:ext cx="12107275" cy="523220"/>
          </a:xfrm>
          <a:prstGeom prst="rect">
            <a:avLst/>
          </a:prstGeom>
          <a:ln>
            <a:noFill/>
            <a:prstDash val="sysDash"/>
          </a:ln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rgbClr val="D42E22"/>
                </a:solidFill>
                <a:latin typeface="Inter 28pt ExtraBold" panose="02000503000000020004" pitchFamily="2" charset="0"/>
                <a:ea typeface="Inter 28pt ExtraBold" panose="02000503000000020004" pitchFamily="2" charset="0"/>
                <a:cs typeface="Arial Unicode MS" panose="020B0604020202020204" pitchFamily="34" charset="-128"/>
              </a:rPr>
              <a:t>Mesma receita, menos risco — isso é crescimento sustentável !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5737997-3AEC-4A30-AE05-746212A7B4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9" y="6259968"/>
            <a:ext cx="1404683" cy="755206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FBA08E50-7D81-46C1-B86B-E596F5CFDE9C}"/>
              </a:ext>
            </a:extLst>
          </p:cNvPr>
          <p:cNvSpPr/>
          <p:nvPr/>
        </p:nvSpPr>
        <p:spPr>
          <a:xfrm>
            <a:off x="708073" y="536365"/>
            <a:ext cx="10803988" cy="581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b="1" dirty="0">
                <a:solidFill>
                  <a:srgbClr val="D42E22"/>
                </a:solidFill>
                <a:latin typeface="Inter 18pt Medium" panose="02000503000000020004" pitchFamily="2" charset="0"/>
                <a:ea typeface="Inter 18pt Medium" panose="02000503000000020004" pitchFamily="2" charset="0"/>
                <a:cs typeface="Arial Unicode MS" panose="020B0604020202020204" pitchFamily="34" charset="-128"/>
              </a:rPr>
              <a:t>-</a:t>
            </a:r>
            <a:r>
              <a:rPr lang="pt-BR" sz="2000" dirty="0">
                <a:solidFill>
                  <a:srgbClr val="D42E22"/>
                </a:solidFill>
                <a:latin typeface="Inter 18pt Medium" panose="02000503000000020004" pitchFamily="2" charset="0"/>
                <a:ea typeface="Inter 18pt Medium" panose="02000503000000020004" pitchFamily="2" charset="0"/>
                <a:cs typeface="Arial Unicode MS" panose="020B0604020202020204" pitchFamily="34" charset="-128"/>
              </a:rPr>
              <a:t> 33% </a:t>
            </a:r>
            <a:r>
              <a:rPr lang="pt-BR" sz="2000" dirty="0">
                <a:latin typeface="Inter 18pt Medium" panose="02000503000000020004" pitchFamily="2" charset="0"/>
                <a:ea typeface="Inter 18pt Medium" panose="02000503000000020004" pitchFamily="2" charset="0"/>
                <a:cs typeface="Arial Unicode MS" panose="020B0604020202020204" pitchFamily="34" charset="-128"/>
              </a:rPr>
              <a:t>na Taxa de Inadimplência e </a:t>
            </a:r>
            <a:r>
              <a:rPr lang="pt-BR" sz="2400" b="1" dirty="0">
                <a:solidFill>
                  <a:srgbClr val="D42E22"/>
                </a:solidFill>
                <a:latin typeface="Inter 18pt Medium" panose="02000503000000020004" pitchFamily="2" charset="0"/>
                <a:ea typeface="Inter 18pt Medium" panose="02000503000000020004" pitchFamily="2" charset="0"/>
                <a:cs typeface="Arial Unicode MS" panose="020B0604020202020204" pitchFamily="34" charset="-128"/>
              </a:rPr>
              <a:t>+</a:t>
            </a:r>
            <a:r>
              <a:rPr lang="pt-BR" sz="2000" dirty="0">
                <a:solidFill>
                  <a:srgbClr val="D42E22"/>
                </a:solidFill>
                <a:latin typeface="Inter 18pt Medium" panose="02000503000000020004" pitchFamily="2" charset="0"/>
                <a:ea typeface="Inter 18pt Medium" panose="02000503000000020004" pitchFamily="2" charset="0"/>
                <a:cs typeface="Arial Unicode MS" panose="020B0604020202020204" pitchFamily="34" charset="-128"/>
              </a:rPr>
              <a:t> 8,7% </a:t>
            </a:r>
            <a:r>
              <a:rPr lang="pt-BR" sz="2000" dirty="0">
                <a:latin typeface="Inter 18pt Medium" panose="02000503000000020004" pitchFamily="2" charset="0"/>
                <a:ea typeface="Inter 18pt Medium" panose="02000503000000020004" pitchFamily="2" charset="0"/>
                <a:cs typeface="Arial Unicode MS" panose="020B0604020202020204" pitchFamily="34" charset="-128"/>
              </a:rPr>
              <a:t>de receita líquida por cliente migrado.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C7F3E2C-B18B-44FD-95FB-7D55E1C01455}"/>
              </a:ext>
            </a:extLst>
          </p:cNvPr>
          <p:cNvSpPr txBox="1"/>
          <p:nvPr/>
        </p:nvSpPr>
        <p:spPr>
          <a:xfrm>
            <a:off x="11451101" y="6485207"/>
            <a:ext cx="661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b="1" dirty="0">
                <a:solidFill>
                  <a:srgbClr val="B03327"/>
                </a:solidFill>
                <a:latin typeface="Inter 18pt Medium" panose="02000503000000020004" pitchFamily="2" charset="0"/>
                <a:ea typeface="Inter 18pt Medium" panose="02000503000000020004" pitchFamily="2" charset="0"/>
              </a:rPr>
              <a:t>3 </a:t>
            </a:r>
            <a:r>
              <a:rPr lang="pt-BR" sz="1400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/</a:t>
            </a:r>
            <a:r>
              <a:rPr lang="pt-BR" sz="1200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10</a:t>
            </a:r>
            <a:endParaRPr lang="pt-BR" sz="1400" dirty="0">
              <a:latin typeface="Inter 18pt Medium" panose="02000503000000020004" pitchFamily="2" charset="0"/>
              <a:ea typeface="Inter 18pt Medium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441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56EFB5D2-565D-4337-A725-66E541CCDE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31" y="2284478"/>
            <a:ext cx="7356344" cy="367817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7417D8D-BB24-46CF-9C26-F5985BD88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9" y="6259968"/>
            <a:ext cx="1404683" cy="755206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69FF3FAD-753B-4FBC-8A0B-FA6A20FB2D93}"/>
              </a:ext>
            </a:extLst>
          </p:cNvPr>
          <p:cNvSpPr/>
          <p:nvPr/>
        </p:nvSpPr>
        <p:spPr>
          <a:xfrm>
            <a:off x="2264898" y="1493325"/>
            <a:ext cx="76528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000" b="1" dirty="0">
                <a:latin typeface="Inter 28pt ExtraBold" panose="02000503000000020004" pitchFamily="2" charset="0"/>
                <a:ea typeface="Inter 28pt ExtraBold" panose="02000503000000020004" pitchFamily="2" charset="0"/>
                <a:cs typeface="Arial Unicode MS" panose="020B0604020202020204" pitchFamily="34" charset="-128"/>
              </a:rPr>
              <a:t>Modelo LGBM :  </a:t>
            </a:r>
            <a:r>
              <a:rPr lang="pt-BR" sz="2400" b="1" dirty="0">
                <a:solidFill>
                  <a:srgbClr val="B03327"/>
                </a:solidFill>
                <a:latin typeface="Inter 28pt ExtraBold" panose="02000503000000020004" pitchFamily="2" charset="0"/>
                <a:ea typeface="Inter 28pt ExtraBold" panose="02000503000000020004" pitchFamily="2" charset="0"/>
                <a:cs typeface="Arial Unicode MS" panose="020B0604020202020204" pitchFamily="34" charset="-128"/>
              </a:rPr>
              <a:t>0,36 KS   </a:t>
            </a:r>
            <a:r>
              <a:rPr lang="pt-BR" sz="2000" b="1" dirty="0">
                <a:latin typeface="Inter 28pt ExtraBold" panose="02000503000000020004" pitchFamily="2" charset="0"/>
                <a:ea typeface="Inter 28pt ExtraBold" panose="02000503000000020004" pitchFamily="2" charset="0"/>
                <a:cs typeface="Arial Unicode MS" panose="020B0604020202020204" pitchFamily="34" charset="-128"/>
              </a:rPr>
              <a:t>|   0,49 GINI   |   0,74 AUC 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E1415F5-25E5-4F51-B457-CE0778563F60}"/>
              </a:ext>
            </a:extLst>
          </p:cNvPr>
          <p:cNvSpPr/>
          <p:nvPr/>
        </p:nvSpPr>
        <p:spPr>
          <a:xfrm>
            <a:off x="2264898" y="702172"/>
            <a:ext cx="76528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000" dirty="0">
                <a:solidFill>
                  <a:srgbClr val="C00000"/>
                </a:solidFill>
                <a:latin typeface="Inter 18pt Medium" panose="02000503000000020004" pitchFamily="2" charset="0"/>
                <a:ea typeface="Inter 18pt Medium" panose="02000503000000020004" pitchFamily="2" charset="0"/>
              </a:rPr>
              <a:t>Fator de Separação: </a:t>
            </a:r>
            <a:r>
              <a:rPr lang="pt-BR" sz="2000" dirty="0">
                <a:solidFill>
                  <a:srgbClr val="000000"/>
                </a:solidFill>
                <a:latin typeface="Inter 18pt Medium" panose="02000503000000020004" pitchFamily="2" charset="0"/>
                <a:ea typeface="Inter 18pt Medium" panose="02000503000000020004" pitchFamily="2" charset="0"/>
              </a:rPr>
              <a:t>Razão </a:t>
            </a:r>
            <a:r>
              <a:rPr lang="pt-BR" sz="2000" dirty="0">
                <a:solidFill>
                  <a:srgbClr val="C00000"/>
                </a:solidFill>
                <a:latin typeface="Inter 18pt Medium" panose="02000503000000020004" pitchFamily="2" charset="0"/>
                <a:ea typeface="Inter 18pt Medium" panose="02000503000000020004" pitchFamily="2" charset="0"/>
              </a:rPr>
              <a:t>14,8 x </a:t>
            </a:r>
            <a:r>
              <a:rPr lang="pt-BR" sz="2000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entre </a:t>
            </a:r>
            <a:r>
              <a:rPr lang="pt-BR" sz="2000" dirty="0" err="1">
                <a:latin typeface="Inter 18pt Medium" panose="02000503000000020004" pitchFamily="2" charset="0"/>
                <a:ea typeface="Inter 18pt Medium" panose="02000503000000020004" pitchFamily="2" charset="0"/>
              </a:rPr>
              <a:t>Decil</a:t>
            </a:r>
            <a:r>
              <a:rPr lang="pt-BR" sz="2000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 1 e </a:t>
            </a:r>
            <a:r>
              <a:rPr lang="pt-BR" sz="2000" dirty="0" err="1">
                <a:latin typeface="Inter 18pt Medium" panose="02000503000000020004" pitchFamily="2" charset="0"/>
                <a:ea typeface="Inter 18pt Medium" panose="02000503000000020004" pitchFamily="2" charset="0"/>
              </a:rPr>
              <a:t>Decil</a:t>
            </a:r>
            <a:r>
              <a:rPr lang="pt-BR" sz="2000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 10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6A16825-279C-4B19-93E3-081DA04D81DE}"/>
              </a:ext>
            </a:extLst>
          </p:cNvPr>
          <p:cNvSpPr/>
          <p:nvPr/>
        </p:nvSpPr>
        <p:spPr>
          <a:xfrm>
            <a:off x="36919" y="163087"/>
            <a:ext cx="12107275" cy="523220"/>
          </a:xfrm>
          <a:prstGeom prst="rect">
            <a:avLst/>
          </a:prstGeom>
          <a:ln>
            <a:noFill/>
            <a:prstDash val="sysDash"/>
          </a:ln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rgbClr val="D42E22"/>
                </a:solidFill>
                <a:latin typeface="Inter 28pt ExtraBold" panose="02000503000000020004" pitchFamily="2" charset="0"/>
                <a:ea typeface="Inter 28pt ExtraBold" panose="02000503000000020004" pitchFamily="2" charset="0"/>
                <a:cs typeface="Arial Unicode MS" panose="020B0604020202020204" pitchFamily="34" charset="-128"/>
              </a:rPr>
              <a:t>O modelo ordena risco de forma consistente !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775A575-50B2-4B50-9E88-C2F59FCD4C5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0" t="6809" r="7907" b="2404"/>
          <a:stretch/>
        </p:blipFill>
        <p:spPr>
          <a:xfrm>
            <a:off x="7351613" y="2320985"/>
            <a:ext cx="4792581" cy="403937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8F86A7A2-A9A2-4565-99B1-D2A85B7D172D}"/>
              </a:ext>
            </a:extLst>
          </p:cNvPr>
          <p:cNvSpPr txBox="1"/>
          <p:nvPr/>
        </p:nvSpPr>
        <p:spPr>
          <a:xfrm>
            <a:off x="11451101" y="6485207"/>
            <a:ext cx="661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b="1" dirty="0">
                <a:solidFill>
                  <a:srgbClr val="B03327"/>
                </a:solidFill>
                <a:latin typeface="Inter 18pt Medium" panose="02000503000000020004" pitchFamily="2" charset="0"/>
                <a:ea typeface="Inter 18pt Medium" panose="02000503000000020004" pitchFamily="2" charset="0"/>
              </a:rPr>
              <a:t>4 </a:t>
            </a:r>
            <a:r>
              <a:rPr lang="pt-BR" sz="1400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/</a:t>
            </a:r>
            <a:r>
              <a:rPr lang="pt-BR" sz="1200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10</a:t>
            </a:r>
            <a:endParaRPr lang="pt-BR" sz="1400" dirty="0">
              <a:latin typeface="Inter 18pt Medium" panose="02000503000000020004" pitchFamily="2" charset="0"/>
              <a:ea typeface="Inter 18pt Medium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079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7417D8D-BB24-46CF-9C26-F5985BD888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9" y="6259968"/>
            <a:ext cx="1404683" cy="755206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8E1415F5-25E5-4F51-B457-CE0778563F60}"/>
              </a:ext>
            </a:extLst>
          </p:cNvPr>
          <p:cNvSpPr/>
          <p:nvPr/>
        </p:nvSpPr>
        <p:spPr>
          <a:xfrm>
            <a:off x="0" y="724407"/>
            <a:ext cx="121441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D42E22"/>
                </a:solidFill>
                <a:latin typeface="Inter 18pt Medium" panose="02000503000000020004" pitchFamily="2" charset="0"/>
                <a:ea typeface="Inter 18pt Medium" panose="02000503000000020004" pitchFamily="2" charset="0"/>
              </a:rPr>
              <a:t>PSI = 0,018 </a:t>
            </a:r>
            <a:r>
              <a:rPr lang="pt-BR" sz="2000" b="1" dirty="0">
                <a:solidFill>
                  <a:srgbClr val="D42E22"/>
                </a:solidFill>
                <a:latin typeface="Inter 18pt Medium" panose="02000503000000020004" pitchFamily="2" charset="0"/>
                <a:ea typeface="Inter 18pt Medium" panose="02000503000000020004" pitchFamily="2" charset="0"/>
                <a:sym typeface="Wingdings" panose="05000000000000000000" pitchFamily="2" charset="2"/>
              </a:rPr>
              <a:t></a:t>
            </a:r>
            <a:r>
              <a:rPr lang="pt-BR" sz="2400" b="1" dirty="0">
                <a:solidFill>
                  <a:srgbClr val="D42E22"/>
                </a:solidFill>
                <a:latin typeface="Inter 18pt Medium" panose="02000503000000020004" pitchFamily="2" charset="0"/>
                <a:ea typeface="Inter 18pt Medium" panose="02000503000000020004" pitchFamily="2" charset="0"/>
              </a:rPr>
              <a:t> </a:t>
            </a:r>
            <a:r>
              <a:rPr lang="pt-BR" sz="2000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A performance não degradou ao sair da janela de treino.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6A16825-279C-4B19-93E3-081DA04D81DE}"/>
              </a:ext>
            </a:extLst>
          </p:cNvPr>
          <p:cNvSpPr/>
          <p:nvPr/>
        </p:nvSpPr>
        <p:spPr>
          <a:xfrm>
            <a:off x="36919" y="163087"/>
            <a:ext cx="12107275" cy="523220"/>
          </a:xfrm>
          <a:prstGeom prst="rect">
            <a:avLst/>
          </a:prstGeom>
          <a:ln>
            <a:noFill/>
            <a:prstDash val="sysDash"/>
          </a:ln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rgbClr val="D42E22"/>
                </a:solidFill>
                <a:latin typeface="Inter 28pt ExtraBold" panose="02000503000000020004" pitchFamily="2" charset="0"/>
                <a:ea typeface="Inter 28pt ExtraBold" panose="02000503000000020004" pitchFamily="2" charset="0"/>
                <a:cs typeface="Arial Unicode MS" panose="020B0604020202020204" pitchFamily="34" charset="-128"/>
              </a:rPr>
              <a:t>Modelo validado fora da janela de treino.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FCBB92F-E53C-4DC6-9AE3-4E61DFE71A4B}"/>
              </a:ext>
            </a:extLst>
          </p:cNvPr>
          <p:cNvSpPr/>
          <p:nvPr/>
        </p:nvSpPr>
        <p:spPr>
          <a:xfrm>
            <a:off x="7882233" y="3478915"/>
            <a:ext cx="2636350" cy="1649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Comparativo:</a:t>
            </a:r>
          </a:p>
          <a:p>
            <a:endParaRPr lang="pt-BR" sz="1600" dirty="0">
              <a:latin typeface="Inter 18pt Light" panose="02000503000000020004" pitchFamily="2" charset="0"/>
              <a:ea typeface="Inter 18pt Light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pt-BR" sz="1600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GINI Treino: 0,5140</a:t>
            </a:r>
            <a:endParaRPr lang="pt-BR" sz="1600" dirty="0">
              <a:latin typeface="Inter 18pt Light" panose="02000503000000020004" pitchFamily="2" charset="0"/>
              <a:ea typeface="Inter 18pt Light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pt-BR" sz="1600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GINI OOT: 0,4874</a:t>
            </a:r>
            <a:endParaRPr lang="pt-BR" sz="1600" dirty="0">
              <a:latin typeface="Inter 18pt Light" panose="02000503000000020004" pitchFamily="2" charset="0"/>
              <a:ea typeface="Inter 18pt Light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rgbClr val="C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Diferença (Gap): 0,0266</a:t>
            </a: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9A63D307-BB4A-4947-A2A1-5ED9DB527E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7210697"/>
              </p:ext>
            </p:extLst>
          </p:nvPr>
        </p:nvGraphicFramePr>
        <p:xfrm>
          <a:off x="288777" y="2236761"/>
          <a:ext cx="7448072" cy="3033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CaixaDeTexto 13">
            <a:extLst>
              <a:ext uri="{FF2B5EF4-FFF2-40B4-BE49-F238E27FC236}">
                <a16:creationId xmlns:a16="http://schemas.microsoft.com/office/drawing/2014/main" id="{D8B453B1-F049-444C-B061-7CBD5F0F0E29}"/>
              </a:ext>
            </a:extLst>
          </p:cNvPr>
          <p:cNvSpPr txBox="1"/>
          <p:nvPr/>
        </p:nvSpPr>
        <p:spPr>
          <a:xfrm>
            <a:off x="11451101" y="6485207"/>
            <a:ext cx="661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b="1" dirty="0">
                <a:solidFill>
                  <a:srgbClr val="B03327"/>
                </a:solidFill>
                <a:latin typeface="Inter 18pt Medium" panose="02000503000000020004" pitchFamily="2" charset="0"/>
                <a:ea typeface="Inter 18pt Medium" panose="02000503000000020004" pitchFamily="2" charset="0"/>
              </a:rPr>
              <a:t>5 </a:t>
            </a:r>
            <a:r>
              <a:rPr lang="pt-BR" sz="1400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/</a:t>
            </a:r>
            <a:r>
              <a:rPr lang="pt-BR" sz="1200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10</a:t>
            </a:r>
            <a:endParaRPr lang="pt-BR" sz="1400" dirty="0">
              <a:latin typeface="Inter 18pt Medium" panose="02000503000000020004" pitchFamily="2" charset="0"/>
              <a:ea typeface="Inter 18pt Medium" panose="02000503000000020004" pitchFamily="2" charset="0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E6C52D1-A59E-4374-BAEC-A4FD0E7911B1}"/>
              </a:ext>
            </a:extLst>
          </p:cNvPr>
          <p:cNvSpPr/>
          <p:nvPr/>
        </p:nvSpPr>
        <p:spPr>
          <a:xfrm>
            <a:off x="288777" y="5378510"/>
            <a:ext cx="7448072" cy="700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1400" dirty="0">
                <a:latin typeface="Inter 18pt Light" panose="02000503000000020004" pitchFamily="2" charset="0"/>
                <a:ea typeface="Inter 18pt Light" panose="02000503000000020004" pitchFamily="2" charset="0"/>
                <a:cs typeface="Arial Unicode MS" panose="020B0604020202020204" pitchFamily="34" charset="-128"/>
              </a:rPr>
              <a:t>Versões incrementais na construção do Modelo: V01 com 1 variável </a:t>
            </a:r>
            <a:r>
              <a:rPr lang="pt-BR" sz="1400" dirty="0">
                <a:latin typeface="Inter 18pt Light" panose="02000503000000020004" pitchFamily="2" charset="0"/>
                <a:ea typeface="Inter 18pt Light" panose="02000503000000020004" pitchFamily="2" charset="0"/>
                <a:cs typeface="Arial Unicode MS" panose="020B0604020202020204" pitchFamily="34" charset="-128"/>
                <a:sym typeface="Wingdings" panose="05000000000000000000" pitchFamily="2" charset="2"/>
              </a:rPr>
              <a:t> V06_final com 50.</a:t>
            </a:r>
            <a:r>
              <a:rPr lang="pt-BR" sz="1400" dirty="0">
                <a:latin typeface="Inter 18pt Light" panose="02000503000000020004" pitchFamily="2" charset="0"/>
                <a:ea typeface="Inter 18pt Light" panose="02000503000000020004" pitchFamily="2" charset="0"/>
                <a:cs typeface="Arial Unicode MS" panose="020B0604020202020204" pitchFamily="34" charset="-128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pt-BR" sz="1400" dirty="0">
                <a:latin typeface="Inter 18pt Light" panose="02000503000000020004" pitchFamily="2" charset="0"/>
                <a:ea typeface="Inter 18pt Light" panose="02000503000000020004" pitchFamily="2" charset="0"/>
                <a:cs typeface="Arial Unicode MS" panose="020B0604020202020204" pitchFamily="34" charset="-128"/>
              </a:rPr>
              <a:t>Criação e Seleção de Variáveis 1.314 </a:t>
            </a:r>
            <a:r>
              <a:rPr lang="pt-BR" sz="1200" dirty="0">
                <a:latin typeface="Inter 18pt Light" panose="02000503000000020004" pitchFamily="2" charset="0"/>
                <a:ea typeface="Inter 18pt Light" panose="02000503000000020004" pitchFamily="2" charset="0"/>
                <a:cs typeface="Arial Unicode MS" panose="020B0604020202020204" pitchFamily="34" charset="-128"/>
                <a:sym typeface="Wingdings" panose="05000000000000000000" pitchFamily="2" charset="2"/>
              </a:rPr>
              <a:t></a:t>
            </a:r>
            <a:r>
              <a:rPr lang="pt-BR" sz="1400" dirty="0">
                <a:latin typeface="Inter 18pt Light" panose="02000503000000020004" pitchFamily="2" charset="0"/>
                <a:ea typeface="Inter 18pt Light" panose="02000503000000020004" pitchFamily="2" charset="0"/>
                <a:cs typeface="Arial Unicode MS" panose="020B0604020202020204" pitchFamily="34" charset="-128"/>
              </a:rPr>
              <a:t> 50 finais.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4CAB402-2658-4FC3-80EB-9DD502E066BC}"/>
              </a:ext>
            </a:extLst>
          </p:cNvPr>
          <p:cNvSpPr/>
          <p:nvPr/>
        </p:nvSpPr>
        <p:spPr>
          <a:xfrm>
            <a:off x="7882233" y="2395955"/>
            <a:ext cx="36022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b="1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Treino</a:t>
            </a:r>
            <a:r>
              <a:rPr lang="pt-BR" b="1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 </a:t>
            </a:r>
            <a:r>
              <a:rPr lang="pt-BR" sz="1200" b="1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(Out-2024 / Jan-2025)</a:t>
            </a:r>
            <a:r>
              <a:rPr lang="pt-BR" b="1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 : </a:t>
            </a:r>
            <a:r>
              <a:rPr lang="pt-BR" sz="1600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2.462.481</a:t>
            </a:r>
            <a:endParaRPr lang="pt-BR" dirty="0">
              <a:latin typeface="Inter 18pt Light" panose="02000503000000020004" pitchFamily="2" charset="0"/>
              <a:ea typeface="Inter 18pt Light" panose="02000503000000020004" pitchFamily="2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72E3702-B5FB-4E9F-8511-6B65FB6C04C5}"/>
              </a:ext>
            </a:extLst>
          </p:cNvPr>
          <p:cNvSpPr/>
          <p:nvPr/>
        </p:nvSpPr>
        <p:spPr>
          <a:xfrm>
            <a:off x="7883836" y="2705327"/>
            <a:ext cx="28568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b="1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OOT</a:t>
            </a:r>
            <a:r>
              <a:rPr lang="pt-BR" sz="2400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 </a:t>
            </a:r>
            <a:r>
              <a:rPr lang="pt-BR" sz="1200" b="1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(</a:t>
            </a:r>
            <a:r>
              <a:rPr lang="pt-BR" sz="1200" b="1" dirty="0" err="1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Fev</a:t>
            </a:r>
            <a:r>
              <a:rPr lang="pt-BR" sz="1200" b="1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/Mar-2025) </a:t>
            </a:r>
            <a:r>
              <a:rPr lang="pt-BR" b="1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: </a:t>
            </a:r>
            <a:r>
              <a:rPr lang="pt-BR" sz="1600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1.127.978</a:t>
            </a:r>
            <a:endParaRPr lang="pt-BR" dirty="0">
              <a:latin typeface="Inter 18pt Light" panose="02000503000000020004" pitchFamily="2" charset="0"/>
              <a:ea typeface="Inter 18pt Light" panose="02000503000000020004" pitchFamily="2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11B0E5B-9717-46A7-980D-C05F874CB4B2}"/>
              </a:ext>
            </a:extLst>
          </p:cNvPr>
          <p:cNvSpPr/>
          <p:nvPr/>
        </p:nvSpPr>
        <p:spPr>
          <a:xfrm>
            <a:off x="7882233" y="2059505"/>
            <a:ext cx="243528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b="1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CPFs únicos</a:t>
            </a:r>
            <a:r>
              <a:rPr lang="pt-BR" sz="1600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: 3.590.459</a:t>
            </a:r>
            <a:endParaRPr lang="pt-BR" sz="1600" dirty="0">
              <a:latin typeface="Inter 18pt Light" panose="02000503000000020004" pitchFamily="2" charset="0"/>
              <a:ea typeface="Inter 18pt Ligh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756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Agrupar 18">
            <a:extLst>
              <a:ext uri="{FF2B5EF4-FFF2-40B4-BE49-F238E27FC236}">
                <a16:creationId xmlns:a16="http://schemas.microsoft.com/office/drawing/2014/main" id="{0EA7078F-2B16-44F0-AE7A-393DD3A8FC86}"/>
              </a:ext>
            </a:extLst>
          </p:cNvPr>
          <p:cNvGrpSpPr/>
          <p:nvPr/>
        </p:nvGrpSpPr>
        <p:grpSpPr>
          <a:xfrm>
            <a:off x="42533" y="3582109"/>
            <a:ext cx="6342974" cy="2972571"/>
            <a:chOff x="5264848" y="3465450"/>
            <a:chExt cx="6342974" cy="2972571"/>
          </a:xfrm>
        </p:grpSpPr>
        <p:grpSp>
          <p:nvGrpSpPr>
            <p:cNvPr id="2" name="Agrupar 1">
              <a:extLst>
                <a:ext uri="{FF2B5EF4-FFF2-40B4-BE49-F238E27FC236}">
                  <a16:creationId xmlns:a16="http://schemas.microsoft.com/office/drawing/2014/main" id="{FD6E0416-AA7F-4705-8F35-0BB454B1536C}"/>
                </a:ext>
              </a:extLst>
            </p:cNvPr>
            <p:cNvGrpSpPr/>
            <p:nvPr/>
          </p:nvGrpSpPr>
          <p:grpSpPr>
            <a:xfrm>
              <a:off x="5264848" y="3549291"/>
              <a:ext cx="6342974" cy="2888730"/>
              <a:chOff x="5264848" y="3549291"/>
              <a:chExt cx="6342974" cy="2888730"/>
            </a:xfrm>
          </p:grpSpPr>
          <p:pic>
            <p:nvPicPr>
              <p:cNvPr id="6" name="Imagem 5">
                <a:extLst>
                  <a:ext uri="{FF2B5EF4-FFF2-40B4-BE49-F238E27FC236}">
                    <a16:creationId xmlns:a16="http://schemas.microsoft.com/office/drawing/2014/main" id="{1C47CEB9-178E-4467-AB57-AC733014231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66" b="50755"/>
              <a:stretch/>
            </p:blipFill>
            <p:spPr>
              <a:xfrm>
                <a:off x="5440281" y="3549291"/>
                <a:ext cx="6167541" cy="2487861"/>
              </a:xfrm>
              <a:prstGeom prst="rect">
                <a:avLst/>
              </a:prstGeom>
            </p:spPr>
          </p:pic>
          <p:pic>
            <p:nvPicPr>
              <p:cNvPr id="10" name="Imagem 9">
                <a:extLst>
                  <a:ext uri="{FF2B5EF4-FFF2-40B4-BE49-F238E27FC236}">
                    <a16:creationId xmlns:a16="http://schemas.microsoft.com/office/drawing/2014/main" id="{8EF33D06-9611-402E-A896-76E32C4A8A9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91768"/>
              <a:stretch/>
            </p:blipFill>
            <p:spPr>
              <a:xfrm>
                <a:off x="5264848" y="6022128"/>
                <a:ext cx="6342974" cy="415893"/>
              </a:xfrm>
              <a:prstGeom prst="rect">
                <a:avLst/>
              </a:prstGeom>
            </p:spPr>
          </p:pic>
        </p:grp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C725642B-C144-4E7B-BABA-3BD83F3010EA}"/>
                </a:ext>
              </a:extLst>
            </p:cNvPr>
            <p:cNvSpPr txBox="1"/>
            <p:nvPr/>
          </p:nvSpPr>
          <p:spPr>
            <a:xfrm>
              <a:off x="7575092" y="3465450"/>
              <a:ext cx="393950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pt-BR" sz="1400" dirty="0"/>
                <a:t>Top 10 Variáveis Mais Importantes (</a:t>
              </a:r>
              <a:r>
                <a:rPr lang="pt-BR" sz="1400" dirty="0" err="1"/>
                <a:t>LightGBM</a:t>
              </a:r>
              <a:r>
                <a:rPr lang="pt-BR" sz="1400" dirty="0"/>
                <a:t> </a:t>
              </a:r>
              <a:r>
                <a:rPr lang="pt-BR" sz="1400" dirty="0" err="1"/>
                <a:t>Gain</a:t>
              </a:r>
              <a:r>
                <a:rPr lang="pt-BR" sz="1400" dirty="0"/>
                <a:t>)</a:t>
              </a: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799AE591-7C3F-46F4-BA3B-EA34BE4C9630}"/>
              </a:ext>
            </a:extLst>
          </p:cNvPr>
          <p:cNvGrpSpPr/>
          <p:nvPr/>
        </p:nvGrpSpPr>
        <p:grpSpPr>
          <a:xfrm>
            <a:off x="6716234" y="917413"/>
            <a:ext cx="5257800" cy="5720158"/>
            <a:chOff x="6466621" y="905855"/>
            <a:chExt cx="5257800" cy="5720158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F74130B7-4FF4-4795-A215-3255F215E6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66621" y="905855"/>
              <a:ext cx="5257800" cy="5720158"/>
            </a:xfrm>
            <a:prstGeom prst="rect">
              <a:avLst/>
            </a:prstGeom>
          </p:spPr>
        </p:pic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6C6DA6E7-C5E9-44FD-B325-C017FEF47F1A}"/>
                </a:ext>
              </a:extLst>
            </p:cNvPr>
            <p:cNvSpPr/>
            <p:nvPr/>
          </p:nvSpPr>
          <p:spPr>
            <a:xfrm>
              <a:off x="7389148" y="1764999"/>
              <a:ext cx="1377482" cy="171963"/>
            </a:xfrm>
            <a:prstGeom prst="rect">
              <a:avLst/>
            </a:prstGeom>
            <a:solidFill>
              <a:srgbClr val="9D0D0C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9B5AFF8B-AE91-47B0-900F-362AC0F61685}"/>
                </a:ext>
              </a:extLst>
            </p:cNvPr>
            <p:cNvSpPr/>
            <p:nvPr/>
          </p:nvSpPr>
          <p:spPr>
            <a:xfrm>
              <a:off x="7693948" y="1996837"/>
              <a:ext cx="1072680" cy="171963"/>
            </a:xfrm>
            <a:prstGeom prst="rect">
              <a:avLst/>
            </a:prstGeom>
            <a:solidFill>
              <a:srgbClr val="9D0D0C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A8D4F83E-3505-4FFB-ACC7-56A6B6CF32CE}"/>
                </a:ext>
              </a:extLst>
            </p:cNvPr>
            <p:cNvSpPr/>
            <p:nvPr/>
          </p:nvSpPr>
          <p:spPr>
            <a:xfrm>
              <a:off x="7055773" y="2237440"/>
              <a:ext cx="1710856" cy="171963"/>
            </a:xfrm>
            <a:prstGeom prst="rect">
              <a:avLst/>
            </a:prstGeom>
            <a:solidFill>
              <a:srgbClr val="9D0D0C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A4FB2946-946B-4C06-945B-7F3D661AF1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9" y="6259968"/>
            <a:ext cx="1404683" cy="755206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D12A9A0F-8371-483A-A36D-17F1257F48FF}"/>
              </a:ext>
            </a:extLst>
          </p:cNvPr>
          <p:cNvSpPr/>
          <p:nvPr/>
        </p:nvSpPr>
        <p:spPr>
          <a:xfrm>
            <a:off x="1" y="158863"/>
            <a:ext cx="121919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 err="1">
                <a:solidFill>
                  <a:srgbClr val="D42E22"/>
                </a:solidFill>
                <a:latin typeface="Inter 28pt ExtraBold" panose="02000503000000020004" pitchFamily="2" charset="0"/>
                <a:ea typeface="Inter 28pt ExtraBold" panose="02000503000000020004" pitchFamily="2" charset="0"/>
                <a:cs typeface="Arial Unicode MS" panose="020B0604020202020204" pitchFamily="34" charset="-128"/>
              </a:rPr>
              <a:t>Features</a:t>
            </a:r>
            <a:r>
              <a:rPr lang="pt-BR" sz="2800" b="1" dirty="0">
                <a:solidFill>
                  <a:srgbClr val="D42E22"/>
                </a:solidFill>
                <a:latin typeface="Inter 28pt ExtraBold" panose="02000503000000020004" pitchFamily="2" charset="0"/>
                <a:ea typeface="Inter 28pt ExtraBold" panose="02000503000000020004" pitchFamily="2" charset="0"/>
                <a:cs typeface="Arial Unicode MS" panose="020B0604020202020204" pitchFamily="34" charset="-128"/>
              </a:rPr>
              <a:t> construídas a partir da Visão Unificada do Cliente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CE80F15-C79E-4DE7-96D9-15E47DCB638E}"/>
              </a:ext>
            </a:extLst>
          </p:cNvPr>
          <p:cNvSpPr/>
          <p:nvPr/>
        </p:nvSpPr>
        <p:spPr>
          <a:xfrm>
            <a:off x="332039" y="852587"/>
            <a:ext cx="6167541" cy="2487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</a:pPr>
            <a:r>
              <a:rPr lang="pt-BR" sz="1600" b="1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Construção dos Books</a:t>
            </a:r>
          </a:p>
          <a:p>
            <a:pPr algn="just">
              <a:spcAft>
                <a:spcPts val="1000"/>
              </a:spcAft>
            </a:pPr>
            <a:r>
              <a:rPr lang="pt-BR" sz="1400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• As variáveis brutas foram avaliadas quanto à cardinalidade, preenchimento e relevância analítica. Para algumas variáveis criadas foi realizado </a:t>
            </a:r>
            <a:r>
              <a:rPr lang="pt-BR" sz="1400" dirty="0" err="1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janelamento</a:t>
            </a:r>
            <a:r>
              <a:rPr lang="pt-BR" sz="1400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 de 1,3,6,9 e 12 meses.</a:t>
            </a:r>
          </a:p>
          <a:p>
            <a:pPr algn="just">
              <a:spcAft>
                <a:spcPts val="1000"/>
              </a:spcAft>
            </a:pPr>
            <a:endParaRPr lang="pt-BR" sz="1400" dirty="0">
              <a:solidFill>
                <a:srgbClr val="000000"/>
              </a:solidFill>
              <a:latin typeface="Inter 18pt Light" panose="02000503000000020004" pitchFamily="2" charset="0"/>
              <a:ea typeface="Inter 18pt Light" panose="02000503000000020004" pitchFamily="2" charset="0"/>
            </a:endParaRPr>
          </a:p>
          <a:p>
            <a:pPr algn="just">
              <a:spcAft>
                <a:spcPts val="1000"/>
              </a:spcAft>
            </a:pPr>
            <a:r>
              <a:rPr lang="pt-BR" sz="1400" b="1" dirty="0" err="1">
                <a:solidFill>
                  <a:srgbClr val="9D0D0C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Book_Recarga</a:t>
            </a:r>
            <a:r>
              <a:rPr lang="pt-BR" sz="1400" b="1" dirty="0">
                <a:solidFill>
                  <a:srgbClr val="9D0D0C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: </a:t>
            </a:r>
            <a:r>
              <a:rPr lang="pt-BR" sz="1400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24 </a:t>
            </a:r>
            <a:r>
              <a:rPr lang="pt-BR" sz="1400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  <a:sym typeface="Wingdings" panose="05000000000000000000" pitchFamily="2" charset="2"/>
              </a:rPr>
              <a:t> </a:t>
            </a:r>
            <a:r>
              <a:rPr lang="pt-BR" sz="1400" b="1" dirty="0">
                <a:solidFill>
                  <a:srgbClr val="9D0D0C"/>
                </a:solidFill>
                <a:latin typeface="Inter 18pt Light" panose="02000503000000020004" pitchFamily="2" charset="0"/>
                <a:ea typeface="Inter 18pt Light" panose="02000503000000020004" pitchFamily="2" charset="0"/>
                <a:sym typeface="Wingdings" panose="05000000000000000000" pitchFamily="2" charset="2"/>
              </a:rPr>
              <a:t>254 variáveis</a:t>
            </a:r>
            <a:endParaRPr lang="pt-BR" sz="1400" b="1" dirty="0">
              <a:solidFill>
                <a:srgbClr val="9D0D0C"/>
              </a:solidFill>
              <a:latin typeface="Inter 18pt Light" panose="02000503000000020004" pitchFamily="2" charset="0"/>
              <a:ea typeface="Inter 18pt Light" panose="02000503000000020004" pitchFamily="2" charset="0"/>
            </a:endParaRPr>
          </a:p>
          <a:p>
            <a:pPr algn="just">
              <a:spcAft>
                <a:spcPts val="1000"/>
              </a:spcAft>
            </a:pPr>
            <a:r>
              <a:rPr lang="pt-BR" sz="1400" b="1" dirty="0">
                <a:solidFill>
                  <a:srgbClr val="9D0D0C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Book_ Pagamento: </a:t>
            </a:r>
            <a:r>
              <a:rPr lang="pt-BR" sz="1400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73 </a:t>
            </a:r>
            <a:r>
              <a:rPr lang="pt-BR" sz="1400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  <a:sym typeface="Wingdings" panose="05000000000000000000" pitchFamily="2" charset="2"/>
              </a:rPr>
              <a:t> </a:t>
            </a:r>
            <a:r>
              <a:rPr lang="pt-BR" sz="1400" b="1" dirty="0">
                <a:solidFill>
                  <a:srgbClr val="9D0D0C"/>
                </a:solidFill>
                <a:latin typeface="Inter 18pt Light" panose="02000503000000020004" pitchFamily="2" charset="0"/>
                <a:ea typeface="Inter 18pt Light" panose="02000503000000020004" pitchFamily="2" charset="0"/>
                <a:sym typeface="Wingdings" panose="05000000000000000000" pitchFamily="2" charset="2"/>
              </a:rPr>
              <a:t>123 variáveis</a:t>
            </a:r>
            <a:endParaRPr lang="pt-BR" sz="1400" b="1" dirty="0">
              <a:solidFill>
                <a:srgbClr val="9D0D0C"/>
              </a:solidFill>
              <a:latin typeface="Inter 18pt Light" panose="02000503000000020004" pitchFamily="2" charset="0"/>
              <a:ea typeface="Inter 18pt Light" panose="02000503000000020004" pitchFamily="2" charset="0"/>
            </a:endParaRPr>
          </a:p>
          <a:p>
            <a:pPr algn="just">
              <a:spcAft>
                <a:spcPts val="1000"/>
              </a:spcAft>
            </a:pPr>
            <a:r>
              <a:rPr lang="pt-BR" sz="1400" b="1" dirty="0">
                <a:solidFill>
                  <a:srgbClr val="9D0D0C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Book_ Atraso: </a:t>
            </a:r>
            <a:r>
              <a:rPr lang="pt-BR" sz="1400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50 </a:t>
            </a:r>
            <a:r>
              <a:rPr lang="pt-BR" sz="1400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  <a:sym typeface="Wingdings" panose="05000000000000000000" pitchFamily="2" charset="2"/>
              </a:rPr>
              <a:t> </a:t>
            </a:r>
            <a:r>
              <a:rPr lang="pt-BR" sz="1400" b="1" dirty="0">
                <a:solidFill>
                  <a:srgbClr val="9D0D0C"/>
                </a:solidFill>
                <a:latin typeface="Inter 18pt Light" panose="02000503000000020004" pitchFamily="2" charset="0"/>
                <a:ea typeface="Inter 18pt Light" panose="02000503000000020004" pitchFamily="2" charset="0"/>
                <a:sym typeface="Wingdings" panose="05000000000000000000" pitchFamily="2" charset="2"/>
              </a:rPr>
              <a:t>102 </a:t>
            </a:r>
            <a:r>
              <a:rPr lang="pt-BR" sz="1400" b="1" dirty="0" err="1">
                <a:solidFill>
                  <a:srgbClr val="9D0D0C"/>
                </a:solidFill>
                <a:latin typeface="Inter 18pt Light" panose="02000503000000020004" pitchFamily="2" charset="0"/>
                <a:ea typeface="Inter 18pt Light" panose="02000503000000020004" pitchFamily="2" charset="0"/>
                <a:sym typeface="Wingdings" panose="05000000000000000000" pitchFamily="2" charset="2"/>
              </a:rPr>
              <a:t>varriáveis</a:t>
            </a:r>
            <a:endParaRPr lang="pt-BR" sz="1400" b="1" dirty="0">
              <a:solidFill>
                <a:srgbClr val="9D0D0C"/>
              </a:solidFill>
              <a:latin typeface="Inter 18pt Light" panose="02000503000000020004" pitchFamily="2" charset="0"/>
              <a:ea typeface="Inter 18pt Light" panose="02000503000000020004" pitchFamily="2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63DC2F0-01B8-4748-B40F-9F9DF3007E0B}"/>
              </a:ext>
            </a:extLst>
          </p:cNvPr>
          <p:cNvSpPr txBox="1"/>
          <p:nvPr/>
        </p:nvSpPr>
        <p:spPr>
          <a:xfrm>
            <a:off x="11451101" y="6485207"/>
            <a:ext cx="661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b="1" dirty="0">
                <a:solidFill>
                  <a:srgbClr val="B03327"/>
                </a:solidFill>
                <a:latin typeface="Inter 18pt Medium" panose="02000503000000020004" pitchFamily="2" charset="0"/>
                <a:ea typeface="Inter 18pt Medium" panose="02000503000000020004" pitchFamily="2" charset="0"/>
              </a:rPr>
              <a:t>6 </a:t>
            </a:r>
            <a:r>
              <a:rPr lang="pt-BR" sz="1400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/</a:t>
            </a:r>
            <a:r>
              <a:rPr lang="pt-BR" sz="1200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10</a:t>
            </a:r>
            <a:endParaRPr lang="pt-BR" sz="1400" dirty="0">
              <a:latin typeface="Inter 18pt Medium" panose="02000503000000020004" pitchFamily="2" charset="0"/>
              <a:ea typeface="Inter 18pt Medium" panose="02000503000000020004" pitchFamily="2" charset="0"/>
            </a:endParaRP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2C797CA8-6B4C-459E-BC25-B6590FC61D9C}"/>
              </a:ext>
            </a:extLst>
          </p:cNvPr>
          <p:cNvSpPr/>
          <p:nvPr/>
        </p:nvSpPr>
        <p:spPr>
          <a:xfrm>
            <a:off x="7753350" y="2744825"/>
            <a:ext cx="1377480" cy="171963"/>
          </a:xfrm>
          <a:prstGeom prst="rect">
            <a:avLst/>
          </a:prstGeom>
          <a:solidFill>
            <a:srgbClr val="9D0D0C">
              <a:alpha val="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D42A22E2-B054-45B6-BDA4-D2926F3E8DD7}"/>
              </a:ext>
            </a:extLst>
          </p:cNvPr>
          <p:cNvSpPr/>
          <p:nvPr/>
        </p:nvSpPr>
        <p:spPr>
          <a:xfrm>
            <a:off x="7588250" y="2980155"/>
            <a:ext cx="1542580" cy="171963"/>
          </a:xfrm>
          <a:prstGeom prst="rect">
            <a:avLst/>
          </a:prstGeom>
          <a:solidFill>
            <a:srgbClr val="9D0D0C">
              <a:alpha val="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962FAB7-55D4-46FD-AA32-746C33CC9CE4}"/>
              </a:ext>
            </a:extLst>
          </p:cNvPr>
          <p:cNvSpPr/>
          <p:nvPr/>
        </p:nvSpPr>
        <p:spPr>
          <a:xfrm>
            <a:off x="8000998" y="3496128"/>
            <a:ext cx="1129831" cy="171963"/>
          </a:xfrm>
          <a:prstGeom prst="rect">
            <a:avLst/>
          </a:prstGeom>
          <a:solidFill>
            <a:srgbClr val="9D0D0C">
              <a:alpha val="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CCA213E2-5DB4-4449-BC4B-92D2C2D0839A}"/>
              </a:ext>
            </a:extLst>
          </p:cNvPr>
          <p:cNvSpPr/>
          <p:nvPr/>
        </p:nvSpPr>
        <p:spPr>
          <a:xfrm>
            <a:off x="7118350" y="4227285"/>
            <a:ext cx="2012480" cy="171963"/>
          </a:xfrm>
          <a:prstGeom prst="rect">
            <a:avLst/>
          </a:prstGeom>
          <a:solidFill>
            <a:srgbClr val="9D0D0C">
              <a:alpha val="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B1C7791-E77A-4A4B-B066-8F47C92A926C}"/>
              </a:ext>
            </a:extLst>
          </p:cNvPr>
          <p:cNvSpPr/>
          <p:nvPr/>
        </p:nvSpPr>
        <p:spPr>
          <a:xfrm>
            <a:off x="7419974" y="4462615"/>
            <a:ext cx="1710856" cy="171963"/>
          </a:xfrm>
          <a:prstGeom prst="rect">
            <a:avLst/>
          </a:prstGeom>
          <a:solidFill>
            <a:srgbClr val="9D0D0C">
              <a:alpha val="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7C5AD31F-0A78-4B86-BBEA-B0DD5B41DFC8}"/>
              </a:ext>
            </a:extLst>
          </p:cNvPr>
          <p:cNvSpPr/>
          <p:nvPr/>
        </p:nvSpPr>
        <p:spPr>
          <a:xfrm>
            <a:off x="7493000" y="4697945"/>
            <a:ext cx="1637830" cy="171963"/>
          </a:xfrm>
          <a:prstGeom prst="rect">
            <a:avLst/>
          </a:prstGeom>
          <a:solidFill>
            <a:srgbClr val="9D0D0C">
              <a:alpha val="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50CC3A83-16C3-4141-8AAF-C067A77242CE}"/>
              </a:ext>
            </a:extLst>
          </p:cNvPr>
          <p:cNvSpPr/>
          <p:nvPr/>
        </p:nvSpPr>
        <p:spPr>
          <a:xfrm>
            <a:off x="7232650" y="4933275"/>
            <a:ext cx="1898180" cy="171963"/>
          </a:xfrm>
          <a:prstGeom prst="rect">
            <a:avLst/>
          </a:prstGeom>
          <a:solidFill>
            <a:srgbClr val="9D0D0C">
              <a:alpha val="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A2C38657-97EE-45D6-B89E-53708533F3A5}"/>
              </a:ext>
            </a:extLst>
          </p:cNvPr>
          <p:cNvSpPr/>
          <p:nvPr/>
        </p:nvSpPr>
        <p:spPr>
          <a:xfrm>
            <a:off x="7419974" y="5464111"/>
            <a:ext cx="1710856" cy="171963"/>
          </a:xfrm>
          <a:prstGeom prst="rect">
            <a:avLst/>
          </a:prstGeom>
          <a:solidFill>
            <a:srgbClr val="9D0D0C">
              <a:alpha val="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602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EE800BA5-618F-46B9-8484-48EDB4319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9" y="6259968"/>
            <a:ext cx="1404683" cy="755206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6B6B5DFA-8753-4224-B82B-DA0081105EB7}"/>
              </a:ext>
            </a:extLst>
          </p:cNvPr>
          <p:cNvSpPr/>
          <p:nvPr/>
        </p:nvSpPr>
        <p:spPr>
          <a:xfrm>
            <a:off x="1" y="158863"/>
            <a:ext cx="121919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rgbClr val="D42E22"/>
                </a:solidFill>
                <a:latin typeface="Inter 28pt ExtraBold" panose="02000503000000020004" pitchFamily="2" charset="0"/>
                <a:ea typeface="Inter 28pt ExtraBold" panose="02000503000000020004" pitchFamily="2" charset="0"/>
                <a:cs typeface="Arial Unicode MS" panose="020B0604020202020204" pitchFamily="34" charset="-128"/>
              </a:rPr>
              <a:t>Arquitetura OCI da solução e Monitoramento do modelo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8408268-C761-44EC-A94E-5C8C447F5007}"/>
              </a:ext>
            </a:extLst>
          </p:cNvPr>
          <p:cNvSpPr txBox="1"/>
          <p:nvPr/>
        </p:nvSpPr>
        <p:spPr>
          <a:xfrm>
            <a:off x="11451101" y="6485207"/>
            <a:ext cx="661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b="1" dirty="0">
                <a:solidFill>
                  <a:srgbClr val="B03327"/>
                </a:solidFill>
                <a:latin typeface="Inter 18pt Medium" panose="02000503000000020004" pitchFamily="2" charset="0"/>
                <a:ea typeface="Inter 18pt Medium" panose="02000503000000020004" pitchFamily="2" charset="0"/>
              </a:rPr>
              <a:t>7 </a:t>
            </a:r>
            <a:r>
              <a:rPr lang="pt-BR" sz="1400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/</a:t>
            </a:r>
            <a:r>
              <a:rPr lang="pt-BR" sz="1200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10</a:t>
            </a:r>
            <a:endParaRPr lang="pt-BR" sz="1400" dirty="0">
              <a:latin typeface="Inter 18pt Medium" panose="02000503000000020004" pitchFamily="2" charset="0"/>
              <a:ea typeface="Inter 18pt Medium" panose="02000503000000020004" pitchFamily="2" charset="0"/>
            </a:endParaRP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A042CEEE-3EB8-48A8-A3C0-7D10A6410F40}"/>
              </a:ext>
            </a:extLst>
          </p:cNvPr>
          <p:cNvGrpSpPr/>
          <p:nvPr/>
        </p:nvGrpSpPr>
        <p:grpSpPr>
          <a:xfrm>
            <a:off x="739260" y="755206"/>
            <a:ext cx="11266714" cy="6259968"/>
            <a:chOff x="739260" y="755206"/>
            <a:chExt cx="11266714" cy="6259968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E2933293-C344-4FD1-B6A7-F36A3679D9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720"/>
            <a:stretch/>
          </p:blipFill>
          <p:spPr>
            <a:xfrm>
              <a:off x="739260" y="755206"/>
              <a:ext cx="11266714" cy="625996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2FD47BBA-C20D-4AB2-B554-2D1426931BF0}"/>
                </a:ext>
              </a:extLst>
            </p:cNvPr>
            <p:cNvSpPr/>
            <p:nvPr/>
          </p:nvSpPr>
          <p:spPr>
            <a:xfrm>
              <a:off x="5205413" y="2547938"/>
              <a:ext cx="161925" cy="581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AD309130-20FC-4E83-800E-9D059A4CFAFB}"/>
                </a:ext>
              </a:extLst>
            </p:cNvPr>
            <p:cNvSpPr/>
            <p:nvPr/>
          </p:nvSpPr>
          <p:spPr>
            <a:xfrm>
              <a:off x="5339828" y="2376488"/>
              <a:ext cx="275160" cy="4095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226949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A69D51C-DA24-4DC1-BF18-A5D8854325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9" y="6259968"/>
            <a:ext cx="1404683" cy="755206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626A3124-566E-439C-8EA6-D2E3BE0FDC4A}"/>
              </a:ext>
            </a:extLst>
          </p:cNvPr>
          <p:cNvSpPr/>
          <p:nvPr/>
        </p:nvSpPr>
        <p:spPr>
          <a:xfrm>
            <a:off x="511247" y="105378"/>
            <a:ext cx="111695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D42E22"/>
                </a:solidFill>
                <a:latin typeface="Inter 28pt ExtraBold" panose="02000503000000020004" pitchFamily="2" charset="0"/>
                <a:ea typeface="Inter 28pt ExtraBold" panose="02000503000000020004" pitchFamily="2" charset="0"/>
                <a:cs typeface="Arial Unicode MS" panose="020B0604020202020204" pitchFamily="34" charset="-128"/>
              </a:rPr>
              <a:t>Modelo tecnicamente sólido, financeiramente atrativo e </a:t>
            </a:r>
          </a:p>
          <a:p>
            <a:pPr algn="ctr"/>
            <a:r>
              <a:rPr lang="pt-BR" sz="2400" b="1" dirty="0">
                <a:solidFill>
                  <a:srgbClr val="D42E22"/>
                </a:solidFill>
                <a:latin typeface="Inter 28pt ExtraBold" panose="02000503000000020004" pitchFamily="2" charset="0"/>
                <a:ea typeface="Inter 28pt ExtraBold" panose="02000503000000020004" pitchFamily="2" charset="0"/>
                <a:cs typeface="Arial Unicode MS" panose="020B0604020202020204" pitchFamily="34" charset="-128"/>
              </a:rPr>
              <a:t>operacionalmente simples de implementar.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DA1DB49-924F-49D9-8A1C-7F98C237770E}"/>
              </a:ext>
            </a:extLst>
          </p:cNvPr>
          <p:cNvSpPr/>
          <p:nvPr/>
        </p:nvSpPr>
        <p:spPr>
          <a:xfrm>
            <a:off x="2369507" y="1038163"/>
            <a:ext cx="71849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Do modelo ao produto: crescimento com controle de risco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13B9D46-1FEC-4D3F-A440-847D301D3969}"/>
              </a:ext>
            </a:extLst>
          </p:cNvPr>
          <p:cNvSpPr/>
          <p:nvPr/>
        </p:nvSpPr>
        <p:spPr>
          <a:xfrm>
            <a:off x="739260" y="1651132"/>
            <a:ext cx="10464800" cy="4168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modelo em produção com </a:t>
            </a:r>
            <a:r>
              <a:rPr lang="pt-BR" dirty="0" err="1">
                <a:latin typeface="Inter 18pt Medium" panose="02000503000000020004" pitchFamily="2" charset="0"/>
                <a:ea typeface="Inter 18pt Medium" panose="02000503000000020004" pitchFamily="2" charset="0"/>
              </a:rPr>
              <a:t>cutoff</a:t>
            </a:r>
            <a:r>
              <a:rPr lang="pt-BR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 operacional 0,31;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Swap In/Out como política imediata;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evolução com </a:t>
            </a:r>
            <a:r>
              <a:rPr lang="pt-BR" b="1" dirty="0" err="1">
                <a:latin typeface="Inter 18pt Medium" panose="02000503000000020004" pitchFamily="2" charset="0"/>
                <a:ea typeface="Inter 18pt Medium" panose="02000503000000020004" pitchFamily="2" charset="0"/>
              </a:rPr>
              <a:t>reject</a:t>
            </a:r>
            <a:r>
              <a:rPr lang="pt-BR" b="1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 </a:t>
            </a:r>
            <a:r>
              <a:rPr lang="pt-BR" b="1" dirty="0" err="1">
                <a:latin typeface="Inter 18pt Medium" panose="02000503000000020004" pitchFamily="2" charset="0"/>
                <a:ea typeface="Inter 18pt Medium" panose="02000503000000020004" pitchFamily="2" charset="0"/>
              </a:rPr>
              <a:t>inference</a:t>
            </a:r>
            <a:r>
              <a:rPr lang="pt-BR" b="1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 </a:t>
            </a:r>
            <a:r>
              <a:rPr lang="pt-BR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e </a:t>
            </a:r>
            <a:r>
              <a:rPr lang="pt-BR" dirty="0" err="1">
                <a:latin typeface="Inter 18pt Medium" panose="02000503000000020004" pitchFamily="2" charset="0"/>
                <a:ea typeface="Inter 18pt Medium" panose="02000503000000020004" pitchFamily="2" charset="0"/>
              </a:rPr>
              <a:t>recalibração</a:t>
            </a:r>
            <a:r>
              <a:rPr lang="pt-BR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 trimestral.</a:t>
            </a:r>
          </a:p>
          <a:p>
            <a:pPr>
              <a:lnSpc>
                <a:spcPct val="150000"/>
              </a:lnSpc>
            </a:pPr>
            <a:r>
              <a:rPr lang="pt-BR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pt-BR" sz="1400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***O modelo foi treinado na base de aprovados — </a:t>
            </a:r>
            <a:r>
              <a:rPr lang="pt-BR" sz="1400" b="1" dirty="0" err="1">
                <a:latin typeface="Inter 18pt Medium" panose="02000503000000020004" pitchFamily="2" charset="0"/>
                <a:ea typeface="Inter 18pt Medium" panose="02000503000000020004" pitchFamily="2" charset="0"/>
              </a:rPr>
              <a:t>reject</a:t>
            </a:r>
            <a:r>
              <a:rPr lang="pt-BR" sz="1400" b="1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 </a:t>
            </a:r>
            <a:r>
              <a:rPr lang="pt-BR" sz="1400" b="1" dirty="0" err="1">
                <a:latin typeface="Inter 18pt Medium" panose="02000503000000020004" pitchFamily="2" charset="0"/>
                <a:ea typeface="Inter 18pt Medium" panose="02000503000000020004" pitchFamily="2" charset="0"/>
              </a:rPr>
              <a:t>inference</a:t>
            </a:r>
            <a:r>
              <a:rPr lang="pt-BR" sz="1400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 está mapeado como próximo passo, com abordagem de </a:t>
            </a:r>
            <a:r>
              <a:rPr lang="pt-BR" sz="1400" b="1" dirty="0" err="1">
                <a:latin typeface="Inter 18pt Medium" panose="02000503000000020004" pitchFamily="2" charset="0"/>
                <a:ea typeface="Inter 18pt Medium" panose="02000503000000020004" pitchFamily="2" charset="0"/>
              </a:rPr>
              <a:t>augmentation</a:t>
            </a:r>
            <a:r>
              <a:rPr lang="pt-BR" sz="1400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*. Para o </a:t>
            </a:r>
            <a:r>
              <a:rPr lang="pt-BR" sz="1400" dirty="0" err="1">
                <a:latin typeface="Inter 18pt Medium" panose="02000503000000020004" pitchFamily="2" charset="0"/>
                <a:ea typeface="Inter 18pt Medium" panose="02000503000000020004" pitchFamily="2" charset="0"/>
              </a:rPr>
              <a:t>hackathon</a:t>
            </a:r>
            <a:r>
              <a:rPr lang="pt-BR" sz="1400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, o FPD do Swap In foi estimado conservadoramente usando a taxa dos aprovados no mesmo </a:t>
            </a:r>
            <a:r>
              <a:rPr lang="pt-BR" sz="1400" dirty="0" err="1">
                <a:latin typeface="Inter 18pt Medium" panose="02000503000000020004" pitchFamily="2" charset="0"/>
                <a:ea typeface="Inter 18pt Medium" panose="02000503000000020004" pitchFamily="2" charset="0"/>
              </a:rPr>
              <a:t>decil</a:t>
            </a:r>
            <a:r>
              <a:rPr lang="pt-BR" sz="1400" dirty="0">
                <a:latin typeface="Inter 18pt Medium" panose="02000503000000020004" pitchFamily="2" charset="0"/>
                <a:ea typeface="Inter 18pt Medium" panose="02000503000000020004" pitchFamily="2" charset="0"/>
              </a:rPr>
              <a:t>, o que tende a superestimar risco, não subestimá-lo.</a:t>
            </a:r>
          </a:p>
          <a:p>
            <a:pPr algn="just">
              <a:lnSpc>
                <a:spcPct val="150000"/>
              </a:lnSpc>
            </a:pPr>
            <a:endParaRPr lang="pt-BR" sz="1600" dirty="0">
              <a:latin typeface="Inter 18pt Medium" panose="02000503000000020004" pitchFamily="2" charset="0"/>
              <a:ea typeface="Inter 18pt Medium" panose="020005030000000200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BR" sz="1200" b="1" dirty="0">
                <a:latin typeface="Inter 18pt Light" panose="02000503000000020004" pitchFamily="2" charset="0"/>
                <a:ea typeface="Inter 18pt Light" panose="02000503000000020004" pitchFamily="2" charset="0"/>
              </a:rPr>
              <a:t>*</a:t>
            </a:r>
            <a:r>
              <a:rPr lang="pt-BR" sz="1200" b="1" dirty="0" err="1">
                <a:latin typeface="Inter 18pt Light" panose="02000503000000020004" pitchFamily="2" charset="0"/>
                <a:ea typeface="Inter 18pt Light" panose="02000503000000020004" pitchFamily="2" charset="0"/>
              </a:rPr>
              <a:t>Augmentation</a:t>
            </a:r>
            <a:r>
              <a:rPr lang="pt-BR" sz="1200" dirty="0">
                <a:latin typeface="Inter 18pt Light" panose="02000503000000020004" pitchFamily="2" charset="0"/>
                <a:ea typeface="Inter 18pt Light" panose="02000503000000020004" pitchFamily="2" charset="0"/>
              </a:rPr>
              <a:t> — Pegar os reprovados, atribuir um </a:t>
            </a:r>
            <a:r>
              <a:rPr lang="pt-BR" sz="1200" dirty="0" err="1">
                <a:latin typeface="Inter 18pt Light" panose="02000503000000020004" pitchFamily="2" charset="0"/>
                <a:ea typeface="Inter 18pt Light" panose="02000503000000020004" pitchFamily="2" charset="0"/>
              </a:rPr>
              <a:t>target</a:t>
            </a:r>
            <a:r>
              <a:rPr lang="pt-BR" sz="1200" dirty="0">
                <a:latin typeface="Inter 18pt Light" panose="02000503000000020004" pitchFamily="2" charset="0"/>
                <a:ea typeface="Inter 18pt Light" panose="02000503000000020004" pitchFamily="2" charset="0"/>
              </a:rPr>
              <a:t> sintético baseado no score (</a:t>
            </a:r>
            <a:r>
              <a:rPr lang="pt-BR" sz="1200" dirty="0" err="1">
                <a:latin typeface="Inter 18pt Light" panose="02000503000000020004" pitchFamily="2" charset="0"/>
                <a:ea typeface="Inter 18pt Light" panose="02000503000000020004" pitchFamily="2" charset="0"/>
              </a:rPr>
              <a:t>ex</a:t>
            </a:r>
            <a:r>
              <a:rPr lang="pt-BR" sz="1200" dirty="0">
                <a:latin typeface="Inter 18pt Light" panose="02000503000000020004" pitchFamily="2" charset="0"/>
                <a:ea typeface="Inter 18pt Light" panose="02000503000000020004" pitchFamily="2" charset="0"/>
              </a:rPr>
              <a:t>: quem tem score &lt; 0.31 recebe FPD = 0, quem tem score &gt; 0.50 recebe FPD = 1) com um peso menor na função de perda, e retreina o modelo com as duas bases juntas. </a:t>
            </a:r>
          </a:p>
        </p:txBody>
      </p:sp>
    </p:spTree>
    <p:extLst>
      <p:ext uri="{BB962C8B-B14F-4D97-AF65-F5344CB8AC3E}">
        <p14:creationId xmlns:p14="http://schemas.microsoft.com/office/powerpoint/2010/main" val="1399335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A69D51C-DA24-4DC1-BF18-A5D8854325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9" y="6259968"/>
            <a:ext cx="1404683" cy="755206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626A3124-566E-439C-8EA6-D2E3BE0FDC4A}"/>
              </a:ext>
            </a:extLst>
          </p:cNvPr>
          <p:cNvSpPr/>
          <p:nvPr/>
        </p:nvSpPr>
        <p:spPr>
          <a:xfrm>
            <a:off x="351589" y="2721114"/>
            <a:ext cx="1116950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 b="1" dirty="0">
                <a:solidFill>
                  <a:srgbClr val="D42E22"/>
                </a:solidFill>
                <a:latin typeface="Inter 28pt ExtraBold" panose="02000503000000020004" pitchFamily="2" charset="0"/>
                <a:ea typeface="Inter 28pt ExtraBold" panose="02000503000000020004" pitchFamily="2" charset="0"/>
                <a:cs typeface="Arial Unicode MS" panose="020B0604020202020204" pitchFamily="34" charset="-128"/>
              </a:rPr>
              <a:t>Muito Grato pela atenção!</a:t>
            </a:r>
          </a:p>
        </p:txBody>
      </p:sp>
    </p:spTree>
    <p:extLst>
      <p:ext uri="{BB962C8B-B14F-4D97-AF65-F5344CB8AC3E}">
        <p14:creationId xmlns:p14="http://schemas.microsoft.com/office/powerpoint/2010/main" val="845419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76D818B8-F56B-4CC8-B8DB-FE42A7988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9" y="6259968"/>
            <a:ext cx="1404683" cy="755206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FEBC0594-7D49-4D18-8A97-C5FD6DEEB8A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940" t="25384" r="29536" b="28470"/>
          <a:stretch/>
        </p:blipFill>
        <p:spPr>
          <a:xfrm>
            <a:off x="36919" y="212212"/>
            <a:ext cx="12155081" cy="557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601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76D818B8-F56B-4CC8-B8DB-FE42A7988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9" y="6259968"/>
            <a:ext cx="1404683" cy="755206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ECF69D9-1E3D-4586-9C71-C2D002C06D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738" t="33219" r="30119" b="29090"/>
          <a:stretch/>
        </p:blipFill>
        <p:spPr>
          <a:xfrm>
            <a:off x="3972" y="1169873"/>
            <a:ext cx="12184055" cy="451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559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2366884-3DCF-480B-BFFB-CF3B22EEFB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9179" y="1248694"/>
            <a:ext cx="6351888" cy="5281284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1C7CB3D0-C046-4E75-99C3-C9540FE902B5}"/>
              </a:ext>
            </a:extLst>
          </p:cNvPr>
          <p:cNvSpPr/>
          <p:nvPr/>
        </p:nvSpPr>
        <p:spPr>
          <a:xfrm>
            <a:off x="428803" y="231987"/>
            <a:ext cx="111695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rgbClr val="D42E22"/>
                </a:solidFill>
                <a:latin typeface="Inter 28pt ExtraBold" panose="02000503000000020004" pitchFamily="2" charset="0"/>
                <a:ea typeface="Inter 28pt ExtraBold" panose="02000503000000020004" pitchFamily="2" charset="0"/>
                <a:cs typeface="Arial Unicode MS" panose="020B0604020202020204" pitchFamily="34" charset="-128"/>
              </a:rPr>
              <a:t>Estabilidade do modelo </a:t>
            </a:r>
            <a:r>
              <a:rPr lang="pt-BR" sz="2800" b="1" dirty="0">
                <a:solidFill>
                  <a:srgbClr val="D42E22"/>
                </a:solidFill>
                <a:latin typeface="Inter 28pt ExtraBold" panose="02000503000000020004" pitchFamily="2" charset="0"/>
                <a:ea typeface="Inter 28pt ExtraBold" panose="02000503000000020004" pitchFamily="2" charset="0"/>
                <a:cs typeface="Arial Unicode MS" panose="020B0604020202020204" pitchFamily="34" charset="-128"/>
                <a:sym typeface="Wingdings" panose="05000000000000000000" pitchFamily="2" charset="2"/>
              </a:rPr>
              <a:t> </a:t>
            </a:r>
            <a:r>
              <a:rPr lang="pt-BR" sz="2800" b="1" dirty="0" err="1">
                <a:solidFill>
                  <a:srgbClr val="D42E22"/>
                </a:solidFill>
                <a:latin typeface="Inter 28pt ExtraBold" panose="02000503000000020004" pitchFamily="2" charset="0"/>
                <a:ea typeface="Inter 28pt ExtraBold" panose="02000503000000020004" pitchFamily="2" charset="0"/>
                <a:cs typeface="Arial Unicode MS" panose="020B0604020202020204" pitchFamily="34" charset="-128"/>
              </a:rPr>
              <a:t>Drift</a:t>
            </a:r>
            <a:r>
              <a:rPr lang="pt-BR" sz="2800" b="1" dirty="0">
                <a:solidFill>
                  <a:srgbClr val="D42E22"/>
                </a:solidFill>
                <a:latin typeface="Inter 28pt ExtraBold" panose="02000503000000020004" pitchFamily="2" charset="0"/>
                <a:ea typeface="Inter 28pt ExtraBold" panose="02000503000000020004" pitchFamily="2" charset="0"/>
                <a:cs typeface="Arial Unicode MS" panose="020B0604020202020204" pitchFamily="34" charset="-128"/>
              </a:rPr>
              <a:t> de População (PSI) = 0.0180 !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6D818B8-F56B-4CC8-B8DB-FE42A7988B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9" y="6259968"/>
            <a:ext cx="1404683" cy="755206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E9ADE2EC-AEF5-4991-AFCD-EE7A7E464644}"/>
              </a:ext>
            </a:extLst>
          </p:cNvPr>
          <p:cNvSpPr/>
          <p:nvPr/>
        </p:nvSpPr>
        <p:spPr>
          <a:xfrm>
            <a:off x="428802" y="2694172"/>
            <a:ext cx="499606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Comparativo:</a:t>
            </a:r>
          </a:p>
          <a:p>
            <a:endParaRPr lang="pt-BR" dirty="0">
              <a:latin typeface="Inter 18pt Light" panose="02000503000000020004" pitchFamily="2" charset="0"/>
              <a:ea typeface="Inter 18pt Light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GINI OOS (Jan): 0.5140</a:t>
            </a:r>
            <a:endParaRPr lang="pt-BR" dirty="0">
              <a:latin typeface="Inter 18pt Light" panose="02000503000000020004" pitchFamily="2" charset="0"/>
              <a:ea typeface="Inter 18pt Light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GINI OOT (</a:t>
            </a:r>
            <a:r>
              <a:rPr lang="pt-BR" dirty="0" err="1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Fev</a:t>
            </a:r>
            <a:r>
              <a:rPr lang="pt-BR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/Mar): 0.4874</a:t>
            </a:r>
            <a:endParaRPr lang="pt-BR" dirty="0">
              <a:latin typeface="Inter 18pt Light" panose="02000503000000020004" pitchFamily="2" charset="0"/>
              <a:ea typeface="Inter 18pt Light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rgbClr val="C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Diferença (Gap): 0.0266</a:t>
            </a:r>
          </a:p>
          <a:p>
            <a:pPr>
              <a:lnSpc>
                <a:spcPct val="150000"/>
              </a:lnSpc>
            </a:pPr>
            <a:endParaRPr lang="pt-BR" dirty="0">
              <a:solidFill>
                <a:srgbClr val="C00000"/>
              </a:solidFill>
              <a:latin typeface="Inter 18pt Light" panose="02000503000000020004" pitchFamily="2" charset="0"/>
              <a:ea typeface="Inter 18pt Light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MODELO ESTÁVEL </a:t>
            </a:r>
          </a:p>
          <a:p>
            <a:r>
              <a:rPr lang="pt-BR" dirty="0">
                <a:solidFill>
                  <a:srgbClr val="000000"/>
                </a:solidFill>
                <a:latin typeface="Inter 18pt Light" panose="02000503000000020004" pitchFamily="2" charset="0"/>
                <a:ea typeface="Inter 18pt Light" panose="02000503000000020004" pitchFamily="2" charset="0"/>
              </a:rPr>
              <a:t>Performance manteve-se estável no tempo.</a:t>
            </a:r>
            <a:endParaRPr lang="pt-BR" dirty="0">
              <a:latin typeface="Inter 18pt Light" panose="02000503000000020004" pitchFamily="2" charset="0"/>
              <a:ea typeface="Inter 18pt Light" panose="02000503000000020004" pitchFamily="2" charset="0"/>
            </a:endParaRPr>
          </a:p>
          <a:p>
            <a:endParaRPr lang="pt-BR" dirty="0">
              <a:solidFill>
                <a:srgbClr val="000000"/>
              </a:solidFill>
              <a:latin typeface="Inter 18pt Light" panose="02000503000000020004" pitchFamily="2" charset="0"/>
              <a:ea typeface="Inter 18pt Light" panose="02000503000000020004" pitchFamily="2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7433193-079C-4356-A368-85AC56F64FF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278" t="33555" r="19964" b="55823"/>
          <a:stretch/>
        </p:blipFill>
        <p:spPr>
          <a:xfrm>
            <a:off x="244404" y="1376326"/>
            <a:ext cx="5364866" cy="71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1862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8043</TotalTime>
  <Words>571</Words>
  <Application>Microsoft Office PowerPoint</Application>
  <PresentationFormat>Widescreen</PresentationFormat>
  <Paragraphs>87</Paragraphs>
  <Slides>13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Inter 18pt Light</vt:lpstr>
      <vt:lpstr>Inter 18pt Medium</vt:lpstr>
      <vt:lpstr>Inter 28pt ExtraBold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Pedro Henryque</dc:creator>
  <cp:lastModifiedBy>Pedro Henryque</cp:lastModifiedBy>
  <cp:revision>127</cp:revision>
  <dcterms:created xsi:type="dcterms:W3CDTF">2026-03-04T18:12:44Z</dcterms:created>
  <dcterms:modified xsi:type="dcterms:W3CDTF">2026-03-12T13:29:15Z</dcterms:modified>
</cp:coreProperties>
</file>